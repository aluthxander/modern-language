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y="5143500" cx="9144000"/>
  <p:notesSz cx="6858000" cy="9144000"/>
  <p:embeddedFontLst>
    <p:embeddedFont>
      <p:font typeface="Raleway"/>
      <p:regular r:id="rId97"/>
      <p:bold r:id="rId98"/>
      <p:italic r:id="rId99"/>
      <p:boldItalic r:id="rId100"/>
    </p:embeddedFont>
    <p:embeddedFont>
      <p:font typeface="Lato"/>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8D8DCF-6D11-44AA-A1F6-255C5AFEA5AF}">
  <a:tblStyle styleId="{FB8D8DCF-6D11-44AA-A1F6-255C5AFEA5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4" Type="http://schemas.openxmlformats.org/officeDocument/2006/relationships/font" Target="fonts/Lato-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Lato-italic.fntdata"/><Relationship Id="rId102" Type="http://schemas.openxmlformats.org/officeDocument/2006/relationships/font" Target="fonts/Lato-bold.fntdata"/><Relationship Id="rId101" Type="http://schemas.openxmlformats.org/officeDocument/2006/relationships/font" Target="fonts/Lato-regular.fntdata"/><Relationship Id="rId100" Type="http://schemas.openxmlformats.org/officeDocument/2006/relationships/font" Target="fonts/Raleway-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font" Target="fonts/Raleway-regular.fntdata"/><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font" Target="fonts/Raleway-italic.fntdata"/><Relationship Id="rId10" Type="http://schemas.openxmlformats.org/officeDocument/2006/relationships/slide" Target="slides/slide3.xml"/><Relationship Id="rId98" Type="http://schemas.openxmlformats.org/officeDocument/2006/relationships/font" Target="fonts/Raleway-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4dce834ff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4dce834ff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4dce834ff0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4dce834ff0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4dce834ff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4dce834ff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4dce834ff0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4dce834ff0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dce834ff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4dce834ff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4dce834ff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4dce834ff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4dce834ff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4dce834ff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4dce834ff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4dce834ff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dce834ff0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4dce834ff0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4dce834ff0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4dce834ff0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4dce834ff0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4dce834ff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4dce834ff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4dce834ff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4dce834ff0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4dce834ff0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4dce834ff0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4dce834ff0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dce834ff0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dce834ff0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4dce834ff0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4dce834ff0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4dce834ff0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4dce834ff0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4dce834ff0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4dce834ff0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4dce834ff0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4dce834ff0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4dce834ff0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4dce834ff0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4dce834ff0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4dce834ff0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4dce834ff0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4dce834ff0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4dce834ff0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4dce834ff0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4dce834ff0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4dce834ff0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4dce834ff0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4dce834ff0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4dce834ff0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4dce834ff0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4dce834ff0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4dce834ff0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4dce834ff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4dce834ff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4dce834ff0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4dce834ff0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4dce834ff0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4dce834ff0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4dce834ff0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4dce834ff0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4dce834ff0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4dce834ff0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4dce834ff0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4dce834ff0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4dce834ff0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4dce834ff0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4dce834ff0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4dce834ff0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4dce834ff0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4dce834ff0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4dce834ff0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4dce834ff0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4dce834ff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4dce834ff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4dce834ff0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4dce834ff0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4dce834ff0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4dce834ff0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4dce834ff0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4dce834ff0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4dce834ff0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4dce834ff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4dce834ff0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4dce834ff0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4dce834ff0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4dce834ff0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4dce834ff0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4dce834ff0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4dce834ff0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4dce834ff0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4dce834ff0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4dce834ff0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4dce834ff0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4dce834ff0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4dce834ff0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4dce834ff0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4dce834ff0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4dce834ff0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4dce834ff0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4dce834ff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4dce834ff0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4dce834ff0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4dce834ff0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4dce834ff0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4dce834ff0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4dce834ff0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4dce834ff0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4dce834ff0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4dce834ff0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4dce834ff0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4dce834ff0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4dce834ff0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4dce834ff0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4dce834ff0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4dce834ff0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4dce834ff0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4dce834ff0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4dce834ff0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4dce834ff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4dce834ff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4dce834ff0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4dce834ff0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4dce834ff0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4dce834ff0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4dce834ff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4dce834ff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4dce834ff0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4dce834ff0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4dce834ff0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4dce834ff0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4dce834ff0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4dce834ff0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4dce834ff0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4dce834ff0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4dce834ff0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4dce834ff0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4dce834ff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4dce834ff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4dce834ff0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4dce834ff0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4dce834ff0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4dce834ff0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4dce834ff0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4dce834ff0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4dce834ff0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4dce834ff0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4dce834ff0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4dce834ff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4dce834ff0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4dce834ff0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4dce834ff0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4dce834ff0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4dce834ff0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4dce834ff0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4dce834ff0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4dce834ff0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4dce834ff0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4dce834ff0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4dce834ff0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4dce834ff0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4dce834ff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4dce834ff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4dce834ff0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4dce834ff0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4dce834ff0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4dce834ff0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4dce834ff0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4dce834ff0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4dce834ff0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4dce834ff0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24dce834ff0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24dce834ff0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4dce834ff0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24dce834ff0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gofiber.i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pkg.go.dev/github.com/gofiber/fiber/v2#Ctx"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png"/><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lwn.net/Articles/542629/" TargetMode="External"/><Relationship Id="rId4" Type="http://schemas.openxmlformats.org/officeDocument/2006/relationships/hyperlink" Target="https://www.nginx.com/blog/socket-sharding-nginx-release-1-9-1/"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hyperlink" Target="https://docs.gofiber.io/template/"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7.png"/><Relationship Id="rId4"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2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hyperlink" Target="https://docs.gofiber.io/category/-middleware"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3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hyperlink" Target="https://docs.gofiber.io/api/client"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Fiber</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indent="-311150" lvl="0" marL="457200" rtl="0" algn="l">
              <a:spcBef>
                <a:spcPts val="0"/>
              </a:spcBef>
              <a:spcAft>
                <a:spcPts val="0"/>
              </a:spcAft>
              <a:buSzPts val="1300"/>
              <a:buChar char="●"/>
            </a:pPr>
            <a:r>
              <a:rPr lang="id"/>
              <a:t>Facebook : </a:t>
            </a:r>
            <a:r>
              <a:rPr lang="id" u="sng">
                <a:solidFill>
                  <a:schemeClr val="hlink"/>
                </a:solidFill>
                <a:hlinkClick r:id="rId5"/>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6"/>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7"/>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8"/>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Golang Fiber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Web Framework</a:t>
            </a:r>
            <a:endParaRPr/>
          </a:p>
        </p:txBody>
      </p:sp>
      <p:sp>
        <p:nvSpPr>
          <p:cNvPr id="194" name="Google Shape;194;p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belajar kelas Golang Web, kita sudah belajar bagaimana cara membuat aplikasi web menggunakan Golang</a:t>
            </a:r>
            <a:endParaRPr/>
          </a:p>
          <a:p>
            <a:pPr indent="-311150" lvl="0" marL="457200" rtl="0" algn="l">
              <a:spcBef>
                <a:spcPts val="0"/>
              </a:spcBef>
              <a:spcAft>
                <a:spcPts val="0"/>
              </a:spcAft>
              <a:buSzPts val="1300"/>
              <a:buChar char="●"/>
            </a:pPr>
            <a:r>
              <a:rPr lang="id"/>
              <a:t>Dengan tambahan HTTPRouter, sebenarnya sudah cukup untuk membuat Web menggunakan Golang</a:t>
            </a:r>
            <a:endParaRPr/>
          </a:p>
          <a:p>
            <a:pPr indent="-311150" lvl="0" marL="457200" rtl="0" algn="l">
              <a:spcBef>
                <a:spcPts val="0"/>
              </a:spcBef>
              <a:spcAft>
                <a:spcPts val="0"/>
              </a:spcAft>
              <a:buSzPts val="1300"/>
              <a:buChar char="●"/>
            </a:pPr>
            <a:r>
              <a:rPr lang="id"/>
              <a:t>Namun, terkadang masih banyak beberapa hal yang harus dilakukan secara manual menggunakan bawaan dari Golang HTTP, sehingga kita membutuhkan Web Framework untuk mempermudah saat membuat aplikasi web menggunakan Golang</a:t>
            </a:r>
            <a:endParaRPr/>
          </a:p>
          <a:p>
            <a:pPr indent="-311150" lvl="0" marL="457200" rtl="0" algn="l">
              <a:spcBef>
                <a:spcPts val="0"/>
              </a:spcBef>
              <a:spcAft>
                <a:spcPts val="0"/>
              </a:spcAft>
              <a:buSzPts val="1300"/>
              <a:buChar char="●"/>
            </a:pPr>
            <a:r>
              <a:rPr lang="id"/>
              <a:t>Terutama Golang sangat populer untuk membuat RESTful API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Fiber</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Sebenarnya ada banyak sekali Web Framework yang bisa kita gunakan untuk memudahkan kita membuat aplikasi Web dengan Golang</a:t>
            </a:r>
            <a:endParaRPr/>
          </a:p>
          <a:p>
            <a:pPr indent="-311150" lvl="0" marL="457200" rtl="0" algn="l">
              <a:spcBef>
                <a:spcPts val="0"/>
              </a:spcBef>
              <a:spcAft>
                <a:spcPts val="0"/>
              </a:spcAft>
              <a:buSzPts val="1300"/>
              <a:buChar char="●"/>
            </a:pPr>
            <a:r>
              <a:rPr lang="id"/>
              <a:t>Pada kelas ini, kita akan membahas salah satu Web Framework yang populer di Golang, yaitu Fiber</a:t>
            </a:r>
            <a:endParaRPr/>
          </a:p>
          <a:p>
            <a:pPr indent="-311150" lvl="0" marL="457200" rtl="0" algn="l">
              <a:spcBef>
                <a:spcPts val="0"/>
              </a:spcBef>
              <a:spcAft>
                <a:spcPts val="0"/>
              </a:spcAft>
              <a:buSzPts val="1300"/>
              <a:buChar char="●"/>
            </a:pPr>
            <a:r>
              <a:rPr lang="id"/>
              <a:t>Fiber adalah Web Framework untuk Golang yang terinspirasi dari ExpressJS, oleh karena itu cara penggunaannya sangat mudah dan sederhana</a:t>
            </a:r>
            <a:endParaRPr/>
          </a:p>
          <a:p>
            <a:pPr indent="-311150" lvl="0" marL="457200" rtl="0" algn="l">
              <a:spcBef>
                <a:spcPts val="0"/>
              </a:spcBef>
              <a:spcAft>
                <a:spcPts val="0"/>
              </a:spcAft>
              <a:buSzPts val="1300"/>
              <a:buChar char="●"/>
            </a:pPr>
            <a:r>
              <a:rPr lang="id"/>
              <a:t>Hal ini otomatis bisa mempermudah kita ketika membuat aplikasi Web / RESTful API menggunakan Golang</a:t>
            </a:r>
            <a:endParaRPr/>
          </a:p>
          <a:p>
            <a:pPr indent="-311150" lvl="0" marL="457200" rtl="0" algn="l">
              <a:spcBef>
                <a:spcPts val="0"/>
              </a:spcBef>
              <a:spcAft>
                <a:spcPts val="0"/>
              </a:spcAft>
              <a:buSzPts val="1300"/>
              <a:buChar char="●"/>
            </a:pPr>
            <a:r>
              <a:rPr lang="id" u="sng">
                <a:solidFill>
                  <a:schemeClr val="hlink"/>
                </a:solidFill>
                <a:hlinkClick r:id="rId3"/>
              </a:rPr>
              <a:t>https://gofiber.io/</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Project</a:t>
            </a:r>
            <a:endParaRPr/>
          </a:p>
        </p:txBody>
      </p:sp>
      <p:sp>
        <p:nvSpPr>
          <p:cNvPr id="211" name="Google Shape;211;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Buat folder belajar-golang-fiber</a:t>
            </a:r>
            <a:endParaRPr/>
          </a:p>
          <a:p>
            <a:pPr indent="-311150" lvl="0" marL="457200" rtl="0" algn="l">
              <a:spcBef>
                <a:spcPts val="0"/>
              </a:spcBef>
              <a:spcAft>
                <a:spcPts val="0"/>
              </a:spcAft>
              <a:buSzPts val="1300"/>
              <a:buChar char="●"/>
            </a:pPr>
            <a:r>
              <a:rPr lang="id"/>
              <a:t>go mod init belajar-golang-fiber</a:t>
            </a:r>
            <a:endParaRPr/>
          </a:p>
          <a:p>
            <a:pPr indent="-311150" lvl="0" marL="457200" rtl="0" algn="l">
              <a:spcBef>
                <a:spcPts val="0"/>
              </a:spcBef>
              <a:spcAft>
                <a:spcPts val="0"/>
              </a:spcAft>
              <a:buSzPts val="1300"/>
              <a:buChar char="●"/>
            </a:pPr>
            <a:r>
              <a:rPr lang="id"/>
              <a:t>Tambahkan dependency Testify</a:t>
            </a:r>
            <a:endParaRPr/>
          </a:p>
          <a:p>
            <a:pPr indent="-311150" lvl="0" marL="457200" rtl="0" algn="l">
              <a:spcBef>
                <a:spcPts val="0"/>
              </a:spcBef>
              <a:spcAft>
                <a:spcPts val="0"/>
              </a:spcAft>
              <a:buSzPts val="1300"/>
              <a:buChar char="●"/>
            </a:pPr>
            <a:r>
              <a:rPr lang="id"/>
              <a:t>go get github.com/stretchr/testify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Fiber</a:t>
            </a:r>
            <a:endParaRPr/>
          </a:p>
        </p:txBody>
      </p:sp>
      <p:sp>
        <p:nvSpPr>
          <p:cNvPr id="217" name="Google Shape;217;p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Tambahkan dependency Fiber</a:t>
            </a:r>
            <a:endParaRPr/>
          </a:p>
          <a:p>
            <a:pPr indent="-311150" lvl="0" marL="457200" rtl="0" algn="l">
              <a:spcBef>
                <a:spcPts val="0"/>
              </a:spcBef>
              <a:spcAft>
                <a:spcPts val="0"/>
              </a:spcAft>
              <a:buSzPts val="1300"/>
              <a:buChar char="●"/>
            </a:pPr>
            <a:r>
              <a:rPr lang="id"/>
              <a:t>go get github.com/gofiber/fiber/v2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Fiber App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Fiber App</a:t>
            </a:r>
            <a:endParaRPr/>
          </a:p>
        </p:txBody>
      </p:sp>
      <p:sp>
        <p:nvSpPr>
          <p:cNvPr id="228" name="Google Shape;228;p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Fiber, hal pertama yang perlu kita buat adalah fiber.App</a:t>
            </a:r>
            <a:endParaRPr/>
          </a:p>
          <a:p>
            <a:pPr indent="-311150" lvl="0" marL="457200" rtl="0" algn="l">
              <a:spcBef>
                <a:spcPts val="0"/>
              </a:spcBef>
              <a:spcAft>
                <a:spcPts val="0"/>
              </a:spcAft>
              <a:buSzPts val="1300"/>
              <a:buChar char="●"/>
            </a:pPr>
            <a:r>
              <a:rPr lang="id"/>
              <a:t>Untuk membuatnya kita bisa menggunakan fiber.New(fiber.Config) yang menghasilkan pointer *fiber.App</a:t>
            </a:r>
            <a:endParaRPr/>
          </a:p>
          <a:p>
            <a:pPr indent="-311150" lvl="0" marL="457200" rtl="0" algn="l">
              <a:spcBef>
                <a:spcPts val="0"/>
              </a:spcBef>
              <a:spcAft>
                <a:spcPts val="0"/>
              </a:spcAft>
              <a:buSzPts val="1300"/>
              <a:buChar char="●"/>
            </a:pPr>
            <a:r>
              <a:rPr lang="id"/>
              <a:t>fiber.App adalah representasi dari aplikasi Web Fiber</a:t>
            </a:r>
            <a:endParaRPr/>
          </a:p>
          <a:p>
            <a:pPr indent="-311150" lvl="0" marL="457200" rtl="0" algn="l">
              <a:spcBef>
                <a:spcPts val="0"/>
              </a:spcBef>
              <a:spcAft>
                <a:spcPts val="0"/>
              </a:spcAft>
              <a:buSzPts val="1300"/>
              <a:buChar char="●"/>
            </a:pPr>
            <a:r>
              <a:rPr lang="id"/>
              <a:t>Setelah membuat fiber.App, selanjutnya untuk menjalankan aplikasi web nya, kita bisa menggunakan method Listen(address)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Fiber App</a:t>
            </a:r>
            <a:endParaRPr/>
          </a:p>
        </p:txBody>
      </p:sp>
      <p:pic>
        <p:nvPicPr>
          <p:cNvPr id="234" name="Google Shape;234;p37"/>
          <p:cNvPicPr preferRelativeResize="0"/>
          <p:nvPr/>
        </p:nvPicPr>
        <p:blipFill>
          <a:blip r:embed="rId3">
            <a:alphaModFix/>
          </a:blip>
          <a:stretch>
            <a:fillRect/>
          </a:stretch>
        </p:blipFill>
        <p:spPr>
          <a:xfrm>
            <a:off x="152400" y="2006250"/>
            <a:ext cx="8772525" cy="2971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Configuration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Configuration</a:t>
            </a:r>
            <a:endParaRPr/>
          </a:p>
        </p:txBody>
      </p:sp>
      <p:sp>
        <p:nvSpPr>
          <p:cNvPr id="245" name="Google Shape;245;p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fiber.App menggunakan fiber.New() terdapat parameter fiber.Config yang bisa kita gunakan</a:t>
            </a:r>
            <a:endParaRPr/>
          </a:p>
          <a:p>
            <a:pPr indent="-311150" lvl="0" marL="457200" rtl="0" algn="l">
              <a:spcBef>
                <a:spcPts val="0"/>
              </a:spcBef>
              <a:spcAft>
                <a:spcPts val="0"/>
              </a:spcAft>
              <a:buSzPts val="1300"/>
              <a:buChar char="●"/>
            </a:pPr>
            <a:r>
              <a:rPr lang="id"/>
              <a:t>Ada banyak sekali konfigurasi yang bisa kita ubah, dan kita akan bahas secara bertahap</a:t>
            </a:r>
            <a:endParaRPr/>
          </a:p>
          <a:p>
            <a:pPr indent="-311150" lvl="0" marL="457200" rtl="0" algn="l">
              <a:spcBef>
                <a:spcPts val="0"/>
              </a:spcBef>
              <a:spcAft>
                <a:spcPts val="0"/>
              </a:spcAft>
              <a:buSzPts val="1300"/>
              <a:buChar char="●"/>
            </a:pPr>
            <a:r>
              <a:rPr lang="id"/>
              <a:t>Contoh yang bisa kita gunakan adalah mengubah konfigurasi timeout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Configuration</a:t>
            </a:r>
            <a:endParaRPr/>
          </a:p>
        </p:txBody>
      </p:sp>
      <p:pic>
        <p:nvPicPr>
          <p:cNvPr id="251" name="Google Shape;251;p40"/>
          <p:cNvPicPr preferRelativeResize="0"/>
          <p:nvPr/>
        </p:nvPicPr>
        <p:blipFill>
          <a:blip r:embed="rId3">
            <a:alphaModFix/>
          </a:blip>
          <a:stretch>
            <a:fillRect/>
          </a:stretch>
        </p:blipFill>
        <p:spPr>
          <a:xfrm>
            <a:off x="152400" y="2006250"/>
            <a:ext cx="8180210" cy="298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a:t>
            </a:r>
            <a:endParaRPr/>
          </a:p>
        </p:txBody>
      </p:sp>
      <p:sp>
        <p:nvSpPr>
          <p:cNvPr id="262" name="Google Shape;262;p4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Web Framework, pertama yang kita tanyakan adalah, bagaimana cara membuat endpoint nya?</a:t>
            </a:r>
            <a:endParaRPr/>
          </a:p>
          <a:p>
            <a:pPr indent="-311150" lvl="0" marL="457200" rtl="0" algn="l">
              <a:spcBef>
                <a:spcPts val="0"/>
              </a:spcBef>
              <a:spcAft>
                <a:spcPts val="0"/>
              </a:spcAft>
              <a:buSzPts val="1300"/>
              <a:buChar char="●"/>
            </a:pPr>
            <a:r>
              <a:rPr lang="id"/>
              <a:t>Di Fiber, untuk membuat Routing, sudah disediakan semua Method di fiber.App yang sesuai dengan HTTP Method</a:t>
            </a:r>
            <a:endParaRPr/>
          </a:p>
          <a:p>
            <a:pPr indent="-311150" lvl="0" marL="457200" rtl="0" algn="l">
              <a:spcBef>
                <a:spcPts val="0"/>
              </a:spcBef>
              <a:spcAft>
                <a:spcPts val="0"/>
              </a:spcAft>
              <a:buSzPts val="1300"/>
              <a:buChar char="●"/>
            </a:pPr>
            <a:r>
              <a:rPr lang="id"/>
              <a:t>Parameternya membutuhkan 2, yaitu path nya dan juga fiber.Handler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Routing Method</a:t>
            </a:r>
            <a:endParaRPr/>
          </a:p>
        </p:txBody>
      </p:sp>
      <p:pic>
        <p:nvPicPr>
          <p:cNvPr id="268" name="Google Shape;268;p43"/>
          <p:cNvPicPr preferRelativeResize="0"/>
          <p:nvPr/>
        </p:nvPicPr>
        <p:blipFill>
          <a:blip r:embed="rId3">
            <a:alphaModFix/>
          </a:blip>
          <a:stretch>
            <a:fillRect/>
          </a:stretch>
        </p:blipFill>
        <p:spPr>
          <a:xfrm>
            <a:off x="152400" y="2006250"/>
            <a:ext cx="8315325" cy="2381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World</a:t>
            </a:r>
            <a:endParaRPr/>
          </a:p>
        </p:txBody>
      </p:sp>
      <p:pic>
        <p:nvPicPr>
          <p:cNvPr id="274" name="Google Shape;274;p44"/>
          <p:cNvPicPr preferRelativeResize="0"/>
          <p:nvPr/>
        </p:nvPicPr>
        <p:blipFill>
          <a:blip r:embed="rId3">
            <a:alphaModFix/>
          </a:blip>
          <a:stretch>
            <a:fillRect/>
          </a:stretch>
        </p:blipFill>
        <p:spPr>
          <a:xfrm>
            <a:off x="152400" y="2006250"/>
            <a:ext cx="8665323" cy="29848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Ctx</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Ctx</a:t>
            </a:r>
            <a:endParaRPr/>
          </a:p>
        </p:txBody>
      </p:sp>
      <p:sp>
        <p:nvSpPr>
          <p:cNvPr id="285" name="Google Shape;285;p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Handler di Fiber Routing, kita hanya cukup menggunakan parameter fiber.Ctx</a:t>
            </a:r>
            <a:endParaRPr/>
          </a:p>
          <a:p>
            <a:pPr indent="-311150" lvl="0" marL="457200" rtl="0" algn="l">
              <a:spcBef>
                <a:spcPts val="0"/>
              </a:spcBef>
              <a:spcAft>
                <a:spcPts val="0"/>
              </a:spcAft>
              <a:buSzPts val="1300"/>
              <a:buChar char="●"/>
            </a:pPr>
            <a:r>
              <a:rPr lang="id"/>
              <a:t>Ctx ini merupakan representasi dari Request dan Response di Fiber</a:t>
            </a:r>
            <a:endParaRPr/>
          </a:p>
          <a:p>
            <a:pPr indent="-311150" lvl="0" marL="457200" rtl="0" algn="l">
              <a:spcBef>
                <a:spcPts val="0"/>
              </a:spcBef>
              <a:spcAft>
                <a:spcPts val="0"/>
              </a:spcAft>
              <a:buSzPts val="1300"/>
              <a:buChar char="●"/>
            </a:pPr>
            <a:r>
              <a:rPr lang="id"/>
              <a:t>Oleh karena itu, kita bisa mendapatkan informasi HTTP Request, dan juga bisa membuat HTTP Response menggunakan fiber.Ctx</a:t>
            </a:r>
            <a:endParaRPr/>
          </a:p>
          <a:p>
            <a:pPr indent="-311150" lvl="0" marL="457200" rtl="0" algn="l">
              <a:spcBef>
                <a:spcPts val="0"/>
              </a:spcBef>
              <a:spcAft>
                <a:spcPts val="0"/>
              </a:spcAft>
              <a:buSzPts val="1300"/>
              <a:buChar char="●"/>
            </a:pPr>
            <a:r>
              <a:rPr lang="id"/>
              <a:t>Untuk detail HTTP Request dan HTTP Response, akan kita bahas lebih detail di materi-materi selanjutnya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Ctx</a:t>
            </a:r>
            <a:endParaRPr/>
          </a:p>
        </p:txBody>
      </p:sp>
      <p:pic>
        <p:nvPicPr>
          <p:cNvPr id="291" name="Google Shape;291;p47"/>
          <p:cNvPicPr preferRelativeResize="0"/>
          <p:nvPr/>
        </p:nvPicPr>
        <p:blipFill>
          <a:blip r:embed="rId3">
            <a:alphaModFix/>
          </a:blip>
          <a:stretch>
            <a:fillRect/>
          </a:stretch>
        </p:blipFill>
        <p:spPr>
          <a:xfrm>
            <a:off x="152400" y="2006250"/>
            <a:ext cx="8606800" cy="2984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Request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Request</a:t>
            </a:r>
            <a:endParaRPr/>
          </a:p>
        </p:txBody>
      </p:sp>
      <p:sp>
        <p:nvSpPr>
          <p:cNvPr id="302" name="Google Shape;302;p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Representasi dari HTTP Request di Fiber adalah Ctx</a:t>
            </a:r>
            <a:endParaRPr/>
          </a:p>
          <a:p>
            <a:pPr indent="-311150" lvl="0" marL="457200" rtl="0" algn="l">
              <a:spcBef>
                <a:spcPts val="0"/>
              </a:spcBef>
              <a:spcAft>
                <a:spcPts val="0"/>
              </a:spcAft>
              <a:buSzPts val="1300"/>
              <a:buChar char="●"/>
            </a:pPr>
            <a:r>
              <a:rPr lang="id"/>
              <a:t>Untuk mengambil informasi dari HTTP Request, kita bisa menggunakan banyak sekali Method yang terdapat di Ctx</a:t>
            </a:r>
            <a:endParaRPr/>
          </a:p>
          <a:p>
            <a:pPr indent="-311150" lvl="0" marL="457200" rtl="0" algn="l">
              <a:spcBef>
                <a:spcPts val="0"/>
              </a:spcBef>
              <a:spcAft>
                <a:spcPts val="0"/>
              </a:spcAft>
              <a:buSzPts val="1300"/>
              <a:buChar char="●"/>
            </a:pPr>
            <a:r>
              <a:rPr lang="id"/>
              <a:t>Kita bisa baca seluruh method yang tersedia di Ctx di halaman Doc nya</a:t>
            </a:r>
            <a:endParaRPr/>
          </a:p>
          <a:p>
            <a:pPr indent="-311150" lvl="0" marL="457200" rtl="0" algn="l">
              <a:spcBef>
                <a:spcPts val="0"/>
              </a:spcBef>
              <a:spcAft>
                <a:spcPts val="0"/>
              </a:spcAft>
              <a:buSzPts val="1300"/>
              <a:buChar char="●"/>
            </a:pPr>
            <a:r>
              <a:rPr lang="id" u="sng">
                <a:solidFill>
                  <a:schemeClr val="hlink"/>
                </a:solidFill>
                <a:hlinkClick r:id="rId3"/>
              </a:rPr>
              <a:t>https://pkg.go.dev/github.com/gofiber/fiber/v2#Ctx</a:t>
            </a:r>
            <a:r>
              <a:rPr lang="id"/>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HTTP Request</a:t>
            </a:r>
            <a:endParaRPr/>
          </a:p>
        </p:txBody>
      </p:sp>
      <p:pic>
        <p:nvPicPr>
          <p:cNvPr id="308" name="Google Shape;308;p50"/>
          <p:cNvPicPr preferRelativeResize="0"/>
          <p:nvPr/>
        </p:nvPicPr>
        <p:blipFill>
          <a:blip r:embed="rId3">
            <a:alphaModFix/>
          </a:blip>
          <a:stretch>
            <a:fillRect/>
          </a:stretch>
        </p:blipFill>
        <p:spPr>
          <a:xfrm>
            <a:off x="152400" y="2006250"/>
            <a:ext cx="8197200" cy="2984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Route Parameter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Parameter</a:t>
            </a:r>
            <a:endParaRPr/>
          </a:p>
        </p:txBody>
      </p:sp>
      <p:sp>
        <p:nvSpPr>
          <p:cNvPr id="319" name="Google Shape;319;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mendukung Route Parameter, dimana kita bisa menambahkan parameter di path URL</a:t>
            </a:r>
            <a:endParaRPr/>
          </a:p>
          <a:p>
            <a:pPr indent="-311150" lvl="0" marL="457200" rtl="0" algn="l">
              <a:spcBef>
                <a:spcPts val="0"/>
              </a:spcBef>
              <a:spcAft>
                <a:spcPts val="0"/>
              </a:spcAft>
              <a:buSzPts val="1300"/>
              <a:buChar char="●"/>
            </a:pPr>
            <a:r>
              <a:rPr lang="id"/>
              <a:t>Ini sangat cocok ketika kita membuat RESTful API, yang butuh data dikirim via path URL</a:t>
            </a:r>
            <a:endParaRPr/>
          </a:p>
          <a:p>
            <a:pPr indent="-311150" lvl="0" marL="457200" rtl="0" algn="l">
              <a:spcBef>
                <a:spcPts val="0"/>
              </a:spcBef>
              <a:spcAft>
                <a:spcPts val="0"/>
              </a:spcAft>
              <a:buSzPts val="1300"/>
              <a:buChar char="●"/>
            </a:pPr>
            <a:r>
              <a:rPr lang="id"/>
              <a:t>Saat membuat Route Parameter, kita perlu memberi nama, dan di Ctx, kita bisa mengambil seluruh data menggunakan method AllParams(), atau menggunakan menthod Params(nama)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Parameter</a:t>
            </a:r>
            <a:endParaRPr/>
          </a:p>
        </p:txBody>
      </p:sp>
      <p:pic>
        <p:nvPicPr>
          <p:cNvPr id="325" name="Google Shape;325;p53"/>
          <p:cNvPicPr preferRelativeResize="0"/>
          <p:nvPr/>
        </p:nvPicPr>
        <p:blipFill>
          <a:blip r:embed="rId3">
            <a:alphaModFix/>
          </a:blip>
          <a:stretch>
            <a:fillRect/>
          </a:stretch>
        </p:blipFill>
        <p:spPr>
          <a:xfrm>
            <a:off x="152400" y="2006250"/>
            <a:ext cx="8839199" cy="291054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Form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Form</a:t>
            </a:r>
            <a:endParaRPr/>
          </a:p>
        </p:txBody>
      </p:sp>
      <p:sp>
        <p:nvSpPr>
          <p:cNvPr id="336" name="Google Shape;336;p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Ketika kita mengirim data menggunakan HTTP Form, kita bisa menggunakan method FormValue(name) pada Ctx untuk mendapatkan data yang dikirim nya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 Form</a:t>
            </a:r>
            <a:endParaRPr/>
          </a:p>
        </p:txBody>
      </p:sp>
      <p:pic>
        <p:nvPicPr>
          <p:cNvPr id="342" name="Google Shape;342;p56"/>
          <p:cNvPicPr preferRelativeResize="0"/>
          <p:nvPr/>
        </p:nvPicPr>
        <p:blipFill>
          <a:blip r:embed="rId3">
            <a:alphaModFix/>
          </a:blip>
          <a:stretch>
            <a:fillRect/>
          </a:stretch>
        </p:blipFill>
        <p:spPr>
          <a:xfrm>
            <a:off x="152400" y="2006250"/>
            <a:ext cx="8839204" cy="292264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Multipart Form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Multipart Form</a:t>
            </a:r>
            <a:endParaRPr/>
          </a:p>
        </p:txBody>
      </p:sp>
      <p:sp>
        <p:nvSpPr>
          <p:cNvPr id="353" name="Google Shape;353;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data File yang yang terdapat di Multipart Form, kita bisa menggunakan method FormFile di Ctx, namun method ini bisa menghasilkan error</a:t>
            </a:r>
            <a:endParaRPr/>
          </a:p>
          <a:p>
            <a:pPr indent="-311150" lvl="0" marL="457200" rtl="0" algn="l">
              <a:spcBef>
                <a:spcPts val="0"/>
              </a:spcBef>
              <a:spcAft>
                <a:spcPts val="0"/>
              </a:spcAft>
              <a:buSzPts val="1300"/>
              <a:buChar char="●"/>
            </a:pPr>
            <a:r>
              <a:rPr lang="id"/>
              <a:t>Selain itu Ctx juga memiliki method SaveFile yang bisa digunakan untuk menyimpan file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Persiapan</a:t>
            </a:r>
            <a:endParaRPr/>
          </a:p>
        </p:txBody>
      </p:sp>
      <p:sp>
        <p:nvSpPr>
          <p:cNvPr id="359" name="Google Shape;359;p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Buatlah sebuah folder source dan target</a:t>
            </a:r>
            <a:endParaRPr/>
          </a:p>
          <a:p>
            <a:pPr indent="-311150" lvl="0" marL="457200" rtl="0" algn="l">
              <a:spcBef>
                <a:spcPts val="0"/>
              </a:spcBef>
              <a:spcAft>
                <a:spcPts val="0"/>
              </a:spcAft>
              <a:buSzPts val="1300"/>
              <a:buChar char="●"/>
            </a:pPr>
            <a:r>
              <a:rPr lang="id"/>
              <a:t>Buat file contoh.txt di folder source</a:t>
            </a:r>
            <a:endParaRPr/>
          </a:p>
          <a:p>
            <a:pPr indent="-311150" lvl="0" marL="457200" rtl="0" algn="l">
              <a:spcBef>
                <a:spcPts val="0"/>
              </a:spcBef>
              <a:spcAft>
                <a:spcPts val="0"/>
              </a:spcAft>
              <a:buSzPts val="1300"/>
              <a:buChar char="●"/>
            </a:pPr>
            <a:r>
              <a:rPr lang="id"/>
              <a:t>Kita akan coba upload file contoh.txt, lalu kita akan coba simpan di folder target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Multipart Form</a:t>
            </a:r>
            <a:endParaRPr/>
          </a:p>
        </p:txBody>
      </p:sp>
      <p:pic>
        <p:nvPicPr>
          <p:cNvPr id="365" name="Google Shape;365;p60"/>
          <p:cNvPicPr preferRelativeResize="0"/>
          <p:nvPr/>
        </p:nvPicPr>
        <p:blipFill>
          <a:blip r:embed="rId3">
            <a:alphaModFix/>
          </a:blip>
          <a:stretch>
            <a:fillRect/>
          </a:stretch>
        </p:blipFill>
        <p:spPr>
          <a:xfrm>
            <a:off x="152400" y="2006250"/>
            <a:ext cx="3889505" cy="2984850"/>
          </a:xfrm>
          <a:prstGeom prst="rect">
            <a:avLst/>
          </a:prstGeom>
          <a:noFill/>
          <a:ln>
            <a:noFill/>
          </a:ln>
        </p:spPr>
      </p:pic>
      <p:pic>
        <p:nvPicPr>
          <p:cNvPr id="366" name="Google Shape;366;p60"/>
          <p:cNvPicPr preferRelativeResize="0"/>
          <p:nvPr/>
        </p:nvPicPr>
        <p:blipFill>
          <a:blip r:embed="rId4">
            <a:alphaModFix/>
          </a:blip>
          <a:stretch>
            <a:fillRect/>
          </a:stretch>
        </p:blipFill>
        <p:spPr>
          <a:xfrm>
            <a:off x="4194305" y="2006250"/>
            <a:ext cx="4797295" cy="276023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Body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Body</a:t>
            </a:r>
            <a:endParaRPr/>
          </a:p>
        </p:txBody>
      </p:sp>
      <p:sp>
        <p:nvSpPr>
          <p:cNvPr id="377" name="Google Shape;377;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RESTful API, kadang kita ingin mengambil informasi request body yang dikirim oleh client, misal JSON, XML, atau yang lainnya</a:t>
            </a:r>
            <a:endParaRPr/>
          </a:p>
          <a:p>
            <a:pPr indent="-311150" lvl="0" marL="457200" rtl="0" algn="l">
              <a:spcBef>
                <a:spcPts val="0"/>
              </a:spcBef>
              <a:spcAft>
                <a:spcPts val="0"/>
              </a:spcAft>
              <a:buSzPts val="1300"/>
              <a:buChar char="●"/>
            </a:pPr>
            <a:r>
              <a:rPr lang="id"/>
              <a:t>Kita bisa mengambil informasi request body menggunakan method Body()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 Body</a:t>
            </a:r>
            <a:endParaRPr/>
          </a:p>
        </p:txBody>
      </p:sp>
      <p:pic>
        <p:nvPicPr>
          <p:cNvPr id="383" name="Google Shape;383;p63"/>
          <p:cNvPicPr preferRelativeResize="0"/>
          <p:nvPr/>
        </p:nvPicPr>
        <p:blipFill>
          <a:blip r:embed="rId3">
            <a:alphaModFix/>
          </a:blip>
          <a:stretch>
            <a:fillRect/>
          </a:stretch>
        </p:blipFill>
        <p:spPr>
          <a:xfrm>
            <a:off x="152400" y="2006250"/>
            <a:ext cx="4380249" cy="2764499"/>
          </a:xfrm>
          <a:prstGeom prst="rect">
            <a:avLst/>
          </a:prstGeom>
          <a:noFill/>
          <a:ln>
            <a:noFill/>
          </a:ln>
        </p:spPr>
      </p:pic>
      <p:pic>
        <p:nvPicPr>
          <p:cNvPr id="384" name="Google Shape;384;p63"/>
          <p:cNvPicPr preferRelativeResize="0"/>
          <p:nvPr/>
        </p:nvPicPr>
        <p:blipFill>
          <a:blip r:embed="rId4">
            <a:alphaModFix/>
          </a:blip>
          <a:stretch>
            <a:fillRect/>
          </a:stretch>
        </p:blipFill>
        <p:spPr>
          <a:xfrm>
            <a:off x="3795200" y="2006250"/>
            <a:ext cx="5220224" cy="1844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Body Parser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Body Parser</a:t>
            </a:r>
            <a:endParaRPr/>
          </a:p>
        </p:txBody>
      </p:sp>
      <p:sp>
        <p:nvSpPr>
          <p:cNvPr id="395" name="Google Shape;395;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Melakukan konversi request body dari []byte menjadi struct sangat menyulitkan jika harus dilakukan manual terus menerus</a:t>
            </a:r>
            <a:endParaRPr/>
          </a:p>
          <a:p>
            <a:pPr indent="-311150" lvl="0" marL="457200" rtl="0" algn="l">
              <a:spcBef>
                <a:spcPts val="0"/>
              </a:spcBef>
              <a:spcAft>
                <a:spcPts val="0"/>
              </a:spcAft>
              <a:buSzPts val="1300"/>
              <a:buChar char="●"/>
            </a:pPr>
            <a:r>
              <a:rPr lang="id"/>
              <a:t>Untungnya, Fiber bisa melakukan parsing otomatis sesuai tipe data yang dikirim, dan otomatis dikonversi ke Struct</a:t>
            </a:r>
            <a:endParaRPr/>
          </a:p>
          <a:p>
            <a:pPr indent="-311150" lvl="0" marL="457200" rtl="0" algn="l">
              <a:spcBef>
                <a:spcPts val="0"/>
              </a:spcBef>
              <a:spcAft>
                <a:spcPts val="0"/>
              </a:spcAft>
              <a:buSzPts val="1300"/>
              <a:buChar char="●"/>
            </a:pPr>
            <a:r>
              <a:rPr lang="id"/>
              <a:t>Ada beberapa Content-Type yang didukung oleh Fiber, caranya dengan menambahkan tag pada Struct nya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Body Parser Content Type</a:t>
            </a:r>
            <a:endParaRPr/>
          </a:p>
        </p:txBody>
      </p:sp>
      <p:graphicFrame>
        <p:nvGraphicFramePr>
          <p:cNvPr id="401" name="Google Shape;401;p66"/>
          <p:cNvGraphicFramePr/>
          <p:nvPr/>
        </p:nvGraphicFramePr>
        <p:xfrm>
          <a:off x="952500" y="2000250"/>
          <a:ext cx="3000000" cy="3000000"/>
        </p:xfrm>
        <a:graphic>
          <a:graphicData uri="http://schemas.openxmlformats.org/drawingml/2006/table">
            <a:tbl>
              <a:tblPr>
                <a:noFill/>
                <a:tableStyleId>{FB8D8DCF-6D11-44AA-A1F6-255C5AFEA5AF}</a:tableStyleId>
              </a:tblPr>
              <a:tblGrid>
                <a:gridCol w="3619500"/>
                <a:gridCol w="3619500"/>
              </a:tblGrid>
              <a:tr h="381000">
                <a:tc>
                  <a:txBody>
                    <a:bodyPr/>
                    <a:lstStyle/>
                    <a:p>
                      <a:pPr indent="0" lvl="0" marL="0" rtl="0" algn="l">
                        <a:spcBef>
                          <a:spcPts val="0"/>
                        </a:spcBef>
                        <a:spcAft>
                          <a:spcPts val="0"/>
                        </a:spcAft>
                        <a:buNone/>
                      </a:pPr>
                      <a:r>
                        <a:rPr lang="id"/>
                        <a:t>Content Type</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Struct Tag</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application/x-www-form-urlencoded	</a:t>
                      </a:r>
                      <a:endParaRPr/>
                    </a:p>
                  </a:txBody>
                  <a:tcPr marT="91425" marB="91425" marR="91425" marL="91425"/>
                </a:tc>
                <a:tc>
                  <a:txBody>
                    <a:bodyPr/>
                    <a:lstStyle/>
                    <a:p>
                      <a:pPr indent="0" lvl="0" marL="0" rtl="0" algn="l">
                        <a:spcBef>
                          <a:spcPts val="0"/>
                        </a:spcBef>
                        <a:spcAft>
                          <a:spcPts val="0"/>
                        </a:spcAft>
                        <a:buNone/>
                      </a:pPr>
                      <a:r>
                        <a:rPr lang="id"/>
                        <a:t>form</a:t>
                      </a:r>
                      <a:endParaRPr/>
                    </a:p>
                  </a:txBody>
                  <a:tcPr marT="91425" marB="91425" marR="91425" marL="91425"/>
                </a:tc>
              </a:tr>
              <a:tr h="381000">
                <a:tc>
                  <a:txBody>
                    <a:bodyPr/>
                    <a:lstStyle/>
                    <a:p>
                      <a:pPr indent="0" lvl="0" marL="0" rtl="0" algn="l">
                        <a:spcBef>
                          <a:spcPts val="0"/>
                        </a:spcBef>
                        <a:spcAft>
                          <a:spcPts val="0"/>
                        </a:spcAft>
                        <a:buNone/>
                      </a:pPr>
                      <a:r>
                        <a:rPr lang="id"/>
                        <a:t>multipart/form-data	</a:t>
                      </a:r>
                      <a:endParaRPr/>
                    </a:p>
                  </a:txBody>
                  <a:tcPr marT="91425" marB="91425" marR="91425" marL="91425"/>
                </a:tc>
                <a:tc>
                  <a:txBody>
                    <a:bodyPr/>
                    <a:lstStyle/>
                    <a:p>
                      <a:pPr indent="0" lvl="0" marL="0" rtl="0" algn="l">
                        <a:spcBef>
                          <a:spcPts val="0"/>
                        </a:spcBef>
                        <a:spcAft>
                          <a:spcPts val="0"/>
                        </a:spcAft>
                        <a:buNone/>
                      </a:pPr>
                      <a:r>
                        <a:rPr lang="id"/>
                        <a:t>form</a:t>
                      </a:r>
                      <a:endParaRPr/>
                    </a:p>
                  </a:txBody>
                  <a:tcPr marT="91425" marB="91425" marR="91425" marL="91425"/>
                </a:tc>
              </a:tr>
              <a:tr h="381000">
                <a:tc>
                  <a:txBody>
                    <a:bodyPr/>
                    <a:lstStyle/>
                    <a:p>
                      <a:pPr indent="0" lvl="0" marL="0" rtl="0" algn="l">
                        <a:spcBef>
                          <a:spcPts val="0"/>
                        </a:spcBef>
                        <a:spcAft>
                          <a:spcPts val="0"/>
                        </a:spcAft>
                        <a:buNone/>
                      </a:pPr>
                      <a:r>
                        <a:rPr lang="id"/>
                        <a:t>application/json	</a:t>
                      </a:r>
                      <a:endParaRPr/>
                    </a:p>
                  </a:txBody>
                  <a:tcPr marT="91425" marB="91425" marR="91425" marL="91425"/>
                </a:tc>
                <a:tc>
                  <a:txBody>
                    <a:bodyPr/>
                    <a:lstStyle/>
                    <a:p>
                      <a:pPr indent="0" lvl="0" marL="0" rtl="0" algn="l">
                        <a:spcBef>
                          <a:spcPts val="0"/>
                        </a:spcBef>
                        <a:spcAft>
                          <a:spcPts val="0"/>
                        </a:spcAft>
                        <a:buNone/>
                      </a:pPr>
                      <a:r>
                        <a:rPr lang="id"/>
                        <a:t>json</a:t>
                      </a:r>
                      <a:endParaRPr/>
                    </a:p>
                  </a:txBody>
                  <a:tcPr marT="91425" marB="91425" marR="91425" marL="91425"/>
                </a:tc>
              </a:tr>
              <a:tr h="381000">
                <a:tc>
                  <a:txBody>
                    <a:bodyPr/>
                    <a:lstStyle/>
                    <a:p>
                      <a:pPr indent="0" lvl="0" marL="0" rtl="0" algn="l">
                        <a:spcBef>
                          <a:spcPts val="0"/>
                        </a:spcBef>
                        <a:spcAft>
                          <a:spcPts val="0"/>
                        </a:spcAft>
                        <a:buNone/>
                      </a:pPr>
                      <a:r>
                        <a:rPr lang="id"/>
                        <a:t>application/xml	</a:t>
                      </a:r>
                      <a:endParaRPr/>
                    </a:p>
                  </a:txBody>
                  <a:tcPr marT="91425" marB="91425" marR="91425" marL="91425"/>
                </a:tc>
                <a:tc>
                  <a:txBody>
                    <a:bodyPr/>
                    <a:lstStyle/>
                    <a:p>
                      <a:pPr indent="0" lvl="0" marL="0" rtl="0" algn="l">
                        <a:spcBef>
                          <a:spcPts val="0"/>
                        </a:spcBef>
                        <a:spcAft>
                          <a:spcPts val="0"/>
                        </a:spcAft>
                        <a:buNone/>
                      </a:pPr>
                      <a:r>
                        <a:rPr lang="id"/>
                        <a:t>xml</a:t>
                      </a:r>
                      <a:endParaRPr/>
                    </a:p>
                  </a:txBody>
                  <a:tcPr marT="91425" marB="91425" marR="91425" marL="91425"/>
                </a:tc>
              </a:tr>
              <a:tr h="381000">
                <a:tc>
                  <a:txBody>
                    <a:bodyPr/>
                    <a:lstStyle/>
                    <a:p>
                      <a:pPr indent="0" lvl="0" marL="0" rtl="0" algn="l">
                        <a:spcBef>
                          <a:spcPts val="0"/>
                        </a:spcBef>
                        <a:spcAft>
                          <a:spcPts val="0"/>
                        </a:spcAft>
                        <a:buNone/>
                      </a:pPr>
                      <a:r>
                        <a:rPr lang="id"/>
                        <a:t>text/xml	</a:t>
                      </a:r>
                      <a:endParaRPr/>
                    </a:p>
                  </a:txBody>
                  <a:tcPr marT="91425" marB="91425" marR="91425" marL="91425"/>
                </a:tc>
                <a:tc>
                  <a:txBody>
                    <a:bodyPr/>
                    <a:lstStyle/>
                    <a:p>
                      <a:pPr indent="0" lvl="0" marL="0" rtl="0" algn="l">
                        <a:spcBef>
                          <a:spcPts val="0"/>
                        </a:spcBef>
                        <a:spcAft>
                          <a:spcPts val="0"/>
                        </a:spcAft>
                        <a:buNone/>
                      </a:pPr>
                      <a:r>
                        <a:rPr lang="id"/>
                        <a:t>xml</a:t>
                      </a:r>
                      <a:endParaRPr/>
                    </a:p>
                  </a:txBody>
                  <a:tcPr marT="91425" marB="91425" marR="91425" marL="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Register Request</a:t>
            </a:r>
            <a:endParaRPr/>
          </a:p>
        </p:txBody>
      </p:sp>
      <p:pic>
        <p:nvPicPr>
          <p:cNvPr id="407" name="Google Shape;407;p67"/>
          <p:cNvPicPr preferRelativeResize="0"/>
          <p:nvPr/>
        </p:nvPicPr>
        <p:blipFill>
          <a:blip r:embed="rId3">
            <a:alphaModFix/>
          </a:blip>
          <a:stretch>
            <a:fillRect/>
          </a:stretch>
        </p:blipFill>
        <p:spPr>
          <a:xfrm>
            <a:off x="152400" y="2006250"/>
            <a:ext cx="8839199" cy="229058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a:t>
            </a:r>
            <a:endParaRPr/>
          </a:p>
        </p:txBody>
      </p:sp>
      <p:pic>
        <p:nvPicPr>
          <p:cNvPr id="413" name="Google Shape;413;p68"/>
          <p:cNvPicPr preferRelativeResize="0"/>
          <p:nvPr/>
        </p:nvPicPr>
        <p:blipFill>
          <a:blip r:embed="rId3">
            <a:alphaModFix/>
          </a:blip>
          <a:stretch>
            <a:fillRect/>
          </a:stretch>
        </p:blipFill>
        <p:spPr>
          <a:xfrm>
            <a:off x="152400" y="2006250"/>
            <a:ext cx="8839201" cy="241123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 JSON</a:t>
            </a:r>
            <a:endParaRPr/>
          </a:p>
        </p:txBody>
      </p:sp>
      <p:pic>
        <p:nvPicPr>
          <p:cNvPr id="419" name="Google Shape;419;p69"/>
          <p:cNvPicPr preferRelativeResize="0"/>
          <p:nvPr/>
        </p:nvPicPr>
        <p:blipFill>
          <a:blip r:embed="rId3">
            <a:alphaModFix/>
          </a:blip>
          <a:stretch>
            <a:fillRect/>
          </a:stretch>
        </p:blipFill>
        <p:spPr>
          <a:xfrm>
            <a:off x="152400" y="2006250"/>
            <a:ext cx="8839199" cy="256988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 Form</a:t>
            </a:r>
            <a:endParaRPr/>
          </a:p>
        </p:txBody>
      </p:sp>
      <p:pic>
        <p:nvPicPr>
          <p:cNvPr id="425" name="Google Shape;425;p70"/>
          <p:cNvPicPr preferRelativeResize="0"/>
          <p:nvPr/>
        </p:nvPicPr>
        <p:blipFill>
          <a:blip r:embed="rId3">
            <a:alphaModFix/>
          </a:blip>
          <a:stretch>
            <a:fillRect/>
          </a:stretch>
        </p:blipFill>
        <p:spPr>
          <a:xfrm>
            <a:off x="152400" y="2006250"/>
            <a:ext cx="8839199" cy="25817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Body Parser XML</a:t>
            </a:r>
            <a:endParaRPr/>
          </a:p>
        </p:txBody>
      </p:sp>
      <p:pic>
        <p:nvPicPr>
          <p:cNvPr id="431" name="Google Shape;431;p71"/>
          <p:cNvPicPr preferRelativeResize="0"/>
          <p:nvPr/>
        </p:nvPicPr>
        <p:blipFill>
          <a:blip r:embed="rId3">
            <a:alphaModFix/>
          </a:blip>
          <a:stretch>
            <a:fillRect/>
          </a:stretch>
        </p:blipFill>
        <p:spPr>
          <a:xfrm>
            <a:off x="152400" y="2006250"/>
            <a:ext cx="7766916" cy="29848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Response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Response</a:t>
            </a:r>
            <a:endParaRPr/>
          </a:p>
        </p:txBody>
      </p:sp>
      <p:sp>
        <p:nvSpPr>
          <p:cNvPr id="442" name="Google Shape;442;p7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sebagai representasi HTTP Request, Ctx juga digunakan sebagai representasi HTTP Response</a:t>
            </a:r>
            <a:endParaRPr/>
          </a:p>
          <a:p>
            <a:pPr indent="-311150" lvl="0" marL="457200" rtl="0" algn="l">
              <a:spcBef>
                <a:spcPts val="0"/>
              </a:spcBef>
              <a:spcAft>
                <a:spcPts val="0"/>
              </a:spcAft>
              <a:buSzPts val="1300"/>
              <a:buChar char="●"/>
            </a:pPr>
            <a:r>
              <a:rPr lang="id"/>
              <a:t>Sebelumnya kita sudah menggunakan SendString() untuk mengembalikan Response Body dalam bentuk String</a:t>
            </a:r>
            <a:endParaRPr/>
          </a:p>
          <a:p>
            <a:pPr indent="-311150" lvl="0" marL="457200" rtl="0" algn="l">
              <a:spcBef>
                <a:spcPts val="0"/>
              </a:spcBef>
              <a:spcAft>
                <a:spcPts val="0"/>
              </a:spcAft>
              <a:buSzPts val="1300"/>
              <a:buChar char="●"/>
            </a:pPr>
            <a:r>
              <a:rPr lang="id"/>
              <a:t>Ada banyak method yang tersedia yang bisa kita gunakan untuk mengubah HTTP Response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4"/>
          <p:cNvSpPr txBox="1"/>
          <p:nvPr>
            <p:ph type="title"/>
          </p:nvPr>
        </p:nvSpPr>
        <p:spPr>
          <a:xfrm>
            <a:off x="729450" y="5774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Response Method</a:t>
            </a:r>
            <a:endParaRPr/>
          </a:p>
        </p:txBody>
      </p:sp>
      <p:graphicFrame>
        <p:nvGraphicFramePr>
          <p:cNvPr id="448" name="Google Shape;448;p74"/>
          <p:cNvGraphicFramePr/>
          <p:nvPr/>
        </p:nvGraphicFramePr>
        <p:xfrm>
          <a:off x="954300" y="1416450"/>
          <a:ext cx="3000000" cy="3000000"/>
        </p:xfrm>
        <a:graphic>
          <a:graphicData uri="http://schemas.openxmlformats.org/drawingml/2006/table">
            <a:tbl>
              <a:tblPr>
                <a:noFill/>
                <a:tableStyleId>{FB8D8DCF-6D11-44AA-A1F6-255C5AFEA5AF}</a:tableStyleId>
              </a:tblPr>
              <a:tblGrid>
                <a:gridCol w="2707725"/>
                <a:gridCol w="4531275"/>
              </a:tblGrid>
              <a:tr h="381000">
                <a:tc>
                  <a:txBody>
                    <a:bodyPr/>
                    <a:lstStyle/>
                    <a:p>
                      <a:pPr indent="0" lvl="0" marL="0" rtl="0" algn="l">
                        <a:spcBef>
                          <a:spcPts val="0"/>
                        </a:spcBef>
                        <a:spcAft>
                          <a:spcPts val="0"/>
                        </a:spcAft>
                        <a:buNone/>
                      </a:pPr>
                      <a:r>
                        <a:rPr lang="id"/>
                        <a:t>Response Method</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Keterangan</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Set(key, value)</a:t>
                      </a:r>
                      <a:endParaRPr/>
                    </a:p>
                  </a:txBody>
                  <a:tcPr marT="91425" marB="91425" marR="91425" marL="91425"/>
                </a:tc>
                <a:tc>
                  <a:txBody>
                    <a:bodyPr/>
                    <a:lstStyle/>
                    <a:p>
                      <a:pPr indent="0" lvl="0" marL="0" rtl="0" algn="l">
                        <a:spcBef>
                          <a:spcPts val="0"/>
                        </a:spcBef>
                        <a:spcAft>
                          <a:spcPts val="0"/>
                        </a:spcAft>
                        <a:buNone/>
                      </a:pPr>
                      <a:r>
                        <a:rPr lang="id"/>
                        <a:t>Mengubah header ke response</a:t>
                      </a:r>
                      <a:endParaRPr/>
                    </a:p>
                  </a:txBody>
                  <a:tcPr marT="91425" marB="91425" marR="91425" marL="91425"/>
                </a:tc>
              </a:tr>
              <a:tr h="381000">
                <a:tc>
                  <a:txBody>
                    <a:bodyPr/>
                    <a:lstStyle/>
                    <a:p>
                      <a:pPr indent="0" lvl="0" marL="0" rtl="0" algn="l">
                        <a:spcBef>
                          <a:spcPts val="0"/>
                        </a:spcBef>
                        <a:spcAft>
                          <a:spcPts val="0"/>
                        </a:spcAft>
                        <a:buNone/>
                      </a:pPr>
                      <a:r>
                        <a:rPr lang="id"/>
                        <a:t>Status(status)</a:t>
                      </a:r>
                      <a:endParaRPr/>
                    </a:p>
                  </a:txBody>
                  <a:tcPr marT="91425" marB="91425" marR="91425" marL="91425"/>
                </a:tc>
                <a:tc>
                  <a:txBody>
                    <a:bodyPr/>
                    <a:lstStyle/>
                    <a:p>
                      <a:pPr indent="0" lvl="0" marL="0" rtl="0" algn="l">
                        <a:spcBef>
                          <a:spcPts val="0"/>
                        </a:spcBef>
                        <a:spcAft>
                          <a:spcPts val="0"/>
                        </a:spcAft>
                        <a:buNone/>
                      </a:pPr>
                      <a:r>
                        <a:rPr lang="id"/>
                        <a:t>Mengubah response status</a:t>
                      </a:r>
                      <a:endParaRPr/>
                    </a:p>
                  </a:txBody>
                  <a:tcPr marT="91425" marB="91425" marR="91425" marL="91425"/>
                </a:tc>
              </a:tr>
              <a:tr h="381000">
                <a:tc>
                  <a:txBody>
                    <a:bodyPr/>
                    <a:lstStyle/>
                    <a:p>
                      <a:pPr indent="0" lvl="0" marL="0" rtl="0" algn="l">
                        <a:spcBef>
                          <a:spcPts val="0"/>
                        </a:spcBef>
                        <a:spcAft>
                          <a:spcPts val="0"/>
                        </a:spcAft>
                        <a:buNone/>
                      </a:pPr>
                      <a:r>
                        <a:rPr lang="id"/>
                        <a:t>SendString(body)</a:t>
                      </a:r>
                      <a:endParaRPr/>
                    </a:p>
                  </a:txBody>
                  <a:tcPr marT="91425" marB="91425" marR="91425" marL="91425"/>
                </a:tc>
                <a:tc>
                  <a:txBody>
                    <a:bodyPr/>
                    <a:lstStyle/>
                    <a:p>
                      <a:pPr indent="0" lvl="0" marL="0" rtl="0" algn="l">
                        <a:spcBef>
                          <a:spcPts val="0"/>
                        </a:spcBef>
                        <a:spcAft>
                          <a:spcPts val="0"/>
                        </a:spcAft>
                        <a:buNone/>
                      </a:pPr>
                      <a:r>
                        <a:rPr lang="id"/>
                        <a:t>Mengubah response body menjadi string</a:t>
                      </a:r>
                      <a:endParaRPr/>
                    </a:p>
                  </a:txBody>
                  <a:tcPr marT="91425" marB="91425" marR="91425" marL="91425"/>
                </a:tc>
              </a:tr>
              <a:tr h="381000">
                <a:tc>
                  <a:txBody>
                    <a:bodyPr/>
                    <a:lstStyle/>
                    <a:p>
                      <a:pPr indent="0" lvl="0" marL="0" rtl="0" algn="l">
                        <a:spcBef>
                          <a:spcPts val="0"/>
                        </a:spcBef>
                        <a:spcAft>
                          <a:spcPts val="0"/>
                        </a:spcAft>
                        <a:buNone/>
                      </a:pPr>
                      <a:r>
                        <a:rPr lang="id"/>
                        <a:t>XML(body)</a:t>
                      </a:r>
                      <a:endParaRPr/>
                    </a:p>
                  </a:txBody>
                  <a:tcPr marT="91425" marB="91425" marR="91425" marL="91425"/>
                </a:tc>
                <a:tc>
                  <a:txBody>
                    <a:bodyPr/>
                    <a:lstStyle/>
                    <a:p>
                      <a:pPr indent="0" lvl="0" marL="0" rtl="0" algn="l">
                        <a:spcBef>
                          <a:spcPts val="0"/>
                        </a:spcBef>
                        <a:spcAft>
                          <a:spcPts val="0"/>
                        </a:spcAft>
                        <a:buNone/>
                      </a:pPr>
                      <a:r>
                        <a:rPr lang="id"/>
                        <a:t>Mengubah response body menjadi XML</a:t>
                      </a:r>
                      <a:endParaRPr/>
                    </a:p>
                  </a:txBody>
                  <a:tcPr marT="91425" marB="91425" marR="91425" marL="91425"/>
                </a:tc>
              </a:tr>
              <a:tr h="381000">
                <a:tc>
                  <a:txBody>
                    <a:bodyPr/>
                    <a:lstStyle/>
                    <a:p>
                      <a:pPr indent="0" lvl="0" marL="0" rtl="0" algn="l">
                        <a:spcBef>
                          <a:spcPts val="0"/>
                        </a:spcBef>
                        <a:spcAft>
                          <a:spcPts val="0"/>
                        </a:spcAft>
                        <a:buNone/>
                      </a:pPr>
                      <a:r>
                        <a:rPr lang="id"/>
                        <a:t>JSON(body)</a:t>
                      </a:r>
                      <a:endParaRPr/>
                    </a:p>
                  </a:txBody>
                  <a:tcPr marT="91425" marB="91425" marR="91425" marL="91425"/>
                </a:tc>
                <a:tc>
                  <a:txBody>
                    <a:bodyPr/>
                    <a:lstStyle/>
                    <a:p>
                      <a:pPr indent="0" lvl="0" marL="0" rtl="0" algn="l">
                        <a:spcBef>
                          <a:spcPts val="0"/>
                        </a:spcBef>
                        <a:spcAft>
                          <a:spcPts val="0"/>
                        </a:spcAft>
                        <a:buNone/>
                      </a:pPr>
                      <a:r>
                        <a:rPr lang="id"/>
                        <a:t>Mengubah response body menjadi JSON</a:t>
                      </a:r>
                      <a:endParaRPr/>
                    </a:p>
                  </a:txBody>
                  <a:tcPr marT="91425" marB="91425" marR="91425" marL="91425"/>
                </a:tc>
              </a:tr>
              <a:tr h="381000">
                <a:tc>
                  <a:txBody>
                    <a:bodyPr/>
                    <a:lstStyle/>
                    <a:p>
                      <a:pPr indent="0" lvl="0" marL="0" rtl="0" algn="l">
                        <a:spcBef>
                          <a:spcPts val="0"/>
                        </a:spcBef>
                        <a:spcAft>
                          <a:spcPts val="0"/>
                        </a:spcAft>
                        <a:buNone/>
                      </a:pPr>
                      <a:r>
                        <a:rPr lang="id"/>
                        <a:t>Redirect(path)</a:t>
                      </a:r>
                      <a:endParaRPr/>
                    </a:p>
                  </a:txBody>
                  <a:tcPr marT="91425" marB="91425" marR="91425" marL="91425"/>
                </a:tc>
                <a:tc>
                  <a:txBody>
                    <a:bodyPr/>
                    <a:lstStyle/>
                    <a:p>
                      <a:pPr indent="0" lvl="0" marL="0" rtl="0" algn="l">
                        <a:spcBef>
                          <a:spcPts val="0"/>
                        </a:spcBef>
                        <a:spcAft>
                          <a:spcPts val="0"/>
                        </a:spcAft>
                        <a:buNone/>
                      </a:pPr>
                      <a:r>
                        <a:rPr lang="id"/>
                        <a:t>Mengubah response menjadi redirect ke path</a:t>
                      </a:r>
                      <a:endParaRPr/>
                    </a:p>
                  </a:txBody>
                  <a:tcPr marT="91425" marB="91425" marR="91425" marL="91425"/>
                </a:tc>
              </a:tr>
              <a:tr h="381000">
                <a:tc>
                  <a:txBody>
                    <a:bodyPr/>
                    <a:lstStyle/>
                    <a:p>
                      <a:pPr indent="0" lvl="0" marL="0" rtl="0" algn="l">
                        <a:spcBef>
                          <a:spcPts val="0"/>
                        </a:spcBef>
                        <a:spcAft>
                          <a:spcPts val="0"/>
                        </a:spcAft>
                        <a:buNone/>
                      </a:pPr>
                      <a:r>
                        <a:rPr lang="id"/>
                        <a:t>Cookie(cookie)</a:t>
                      </a:r>
                      <a:endParaRPr/>
                    </a:p>
                  </a:txBody>
                  <a:tcPr marT="91425" marB="91425" marR="91425" marL="91425"/>
                </a:tc>
                <a:tc>
                  <a:txBody>
                    <a:bodyPr/>
                    <a:lstStyle/>
                    <a:p>
                      <a:pPr indent="0" lvl="0" marL="0" rtl="0" algn="l">
                        <a:spcBef>
                          <a:spcPts val="0"/>
                        </a:spcBef>
                        <a:spcAft>
                          <a:spcPts val="0"/>
                        </a:spcAft>
                        <a:buNone/>
                      </a:pPr>
                      <a:r>
                        <a:rPr lang="id"/>
                        <a:t>Menambah cookie ke response</a:t>
                      </a:r>
                      <a:endParaRPr/>
                    </a:p>
                  </a:txBody>
                  <a:tcPr marT="91425" marB="91425" marR="91425" marL="91425"/>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JSON</a:t>
            </a:r>
            <a:endParaRPr/>
          </a:p>
        </p:txBody>
      </p:sp>
      <p:pic>
        <p:nvPicPr>
          <p:cNvPr id="454" name="Google Shape;454;p75"/>
          <p:cNvPicPr preferRelativeResize="0"/>
          <p:nvPr/>
        </p:nvPicPr>
        <p:blipFill>
          <a:blip r:embed="rId3">
            <a:alphaModFix/>
          </a:blip>
          <a:stretch>
            <a:fillRect/>
          </a:stretch>
        </p:blipFill>
        <p:spPr>
          <a:xfrm>
            <a:off x="152400" y="2006250"/>
            <a:ext cx="8120545" cy="29848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Download File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Download File</a:t>
            </a:r>
            <a:endParaRPr/>
          </a:p>
        </p:txBody>
      </p:sp>
      <p:sp>
        <p:nvSpPr>
          <p:cNvPr id="465" name="Google Shape;465;p7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bahas tentang Upload File, Fiber juga bisa digunakan untuk mengembalikan response File atau byte[]</a:t>
            </a:r>
            <a:endParaRPr/>
          </a:p>
          <a:p>
            <a:pPr indent="-311150" lvl="0" marL="457200" rtl="0" algn="l">
              <a:spcBef>
                <a:spcPts val="0"/>
              </a:spcBef>
              <a:spcAft>
                <a:spcPts val="0"/>
              </a:spcAft>
              <a:buSzPts val="1300"/>
              <a:buChar char="●"/>
            </a:pPr>
            <a:r>
              <a:rPr lang="id"/>
              <a:t>Ada beberapa Method yang bisa kita gunakan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Method Download File</a:t>
            </a:r>
            <a:endParaRPr/>
          </a:p>
        </p:txBody>
      </p:sp>
      <p:graphicFrame>
        <p:nvGraphicFramePr>
          <p:cNvPr id="471" name="Google Shape;471;p78"/>
          <p:cNvGraphicFramePr/>
          <p:nvPr/>
        </p:nvGraphicFramePr>
        <p:xfrm>
          <a:off x="952500" y="2000250"/>
          <a:ext cx="3000000" cy="3000000"/>
        </p:xfrm>
        <a:graphic>
          <a:graphicData uri="http://schemas.openxmlformats.org/drawingml/2006/table">
            <a:tbl>
              <a:tblPr>
                <a:noFill/>
                <a:tableStyleId>{FB8D8DCF-6D11-44AA-A1F6-255C5AFEA5AF}</a:tableStyleId>
              </a:tblPr>
              <a:tblGrid>
                <a:gridCol w="3619500"/>
                <a:gridCol w="3619500"/>
              </a:tblGrid>
              <a:tr h="381000">
                <a:tc>
                  <a:txBody>
                    <a:bodyPr/>
                    <a:lstStyle/>
                    <a:p>
                      <a:pPr indent="0" lvl="0" marL="0" rtl="0" algn="l">
                        <a:spcBef>
                          <a:spcPts val="0"/>
                        </a:spcBef>
                        <a:spcAft>
                          <a:spcPts val="0"/>
                        </a:spcAft>
                        <a:buNone/>
                      </a:pPr>
                      <a:r>
                        <a:rPr lang="id"/>
                        <a:t>Method Download File</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Keterangan</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Download(file, filename)</a:t>
                      </a:r>
                      <a:endParaRPr/>
                    </a:p>
                  </a:txBody>
                  <a:tcPr marT="91425" marB="91425" marR="91425" marL="91425"/>
                </a:tc>
                <a:tc>
                  <a:txBody>
                    <a:bodyPr/>
                    <a:lstStyle/>
                    <a:p>
                      <a:pPr indent="0" lvl="0" marL="0" rtl="0" algn="l">
                        <a:spcBef>
                          <a:spcPts val="0"/>
                        </a:spcBef>
                        <a:spcAft>
                          <a:spcPts val="0"/>
                        </a:spcAft>
                        <a:buNone/>
                      </a:pPr>
                      <a:r>
                        <a:rPr lang="id"/>
                        <a:t>Mengubah response menjadi isi file</a:t>
                      </a:r>
                      <a:endParaRPr/>
                    </a:p>
                  </a:txBody>
                  <a:tcPr marT="91425" marB="91425" marR="91425" marL="91425"/>
                </a:tc>
              </a:tr>
              <a:tr h="381000">
                <a:tc>
                  <a:txBody>
                    <a:bodyPr/>
                    <a:lstStyle/>
                    <a:p>
                      <a:pPr indent="0" lvl="0" marL="0" rtl="0" algn="l">
                        <a:spcBef>
                          <a:spcPts val="0"/>
                        </a:spcBef>
                        <a:spcAft>
                          <a:spcPts val="0"/>
                        </a:spcAft>
                        <a:buNone/>
                      </a:pPr>
                      <a:r>
                        <a:rPr lang="id"/>
                        <a:t>Send([]byte)</a:t>
                      </a:r>
                      <a:endParaRPr/>
                    </a:p>
                  </a:txBody>
                  <a:tcPr marT="91425" marB="91425" marR="91425" marL="91425"/>
                </a:tc>
                <a:tc>
                  <a:txBody>
                    <a:bodyPr/>
                    <a:lstStyle/>
                    <a:p>
                      <a:pPr indent="0" lvl="0" marL="0" rtl="0" algn="l">
                        <a:spcBef>
                          <a:spcPts val="0"/>
                        </a:spcBef>
                        <a:spcAft>
                          <a:spcPts val="0"/>
                        </a:spcAft>
                        <a:buNone/>
                      </a:pPr>
                      <a:r>
                        <a:rPr lang="id"/>
                        <a:t>Mengubah response menjadi data []byte</a:t>
                      </a:r>
                      <a:endParaRPr/>
                    </a:p>
                  </a:txBody>
                  <a:tcPr marT="91425" marB="91425" marR="91425" marL="91425"/>
                </a:tc>
              </a:tr>
              <a:tr h="381000">
                <a:tc>
                  <a:txBody>
                    <a:bodyPr/>
                    <a:lstStyle/>
                    <a:p>
                      <a:pPr indent="0" lvl="0" marL="0" rtl="0" algn="l">
                        <a:spcBef>
                          <a:spcPts val="0"/>
                        </a:spcBef>
                        <a:spcAft>
                          <a:spcPts val="0"/>
                        </a:spcAft>
                        <a:buNone/>
                      </a:pPr>
                      <a:r>
                        <a:rPr lang="id"/>
                        <a:t>SendFile(file, </a:t>
                      </a:r>
                      <a:r>
                        <a:rPr lang="id"/>
                        <a:t>compress</a:t>
                      </a:r>
                      <a:r>
                        <a:rPr lang="id"/>
                        <a:t>)</a:t>
                      </a:r>
                      <a:endParaRPr/>
                    </a:p>
                  </a:txBody>
                  <a:tcPr marT="91425" marB="91425" marR="91425" marL="91425"/>
                </a:tc>
                <a:tc>
                  <a:txBody>
                    <a:bodyPr/>
                    <a:lstStyle/>
                    <a:p>
                      <a:pPr indent="0" lvl="0" marL="0" rtl="0" algn="l">
                        <a:spcBef>
                          <a:spcPts val="0"/>
                        </a:spcBef>
                        <a:spcAft>
                          <a:spcPts val="0"/>
                        </a:spcAft>
                        <a:buNone/>
                      </a:pPr>
                      <a:r>
                        <a:rPr lang="id"/>
                        <a:t>Mengubah response menjadi isi file</a:t>
                      </a:r>
                      <a:endParaRPr/>
                    </a:p>
                  </a:txBody>
                  <a:tcPr marT="91425" marB="9142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Download File</a:t>
            </a:r>
            <a:endParaRPr/>
          </a:p>
        </p:txBody>
      </p:sp>
      <p:pic>
        <p:nvPicPr>
          <p:cNvPr id="477" name="Google Shape;477;p79"/>
          <p:cNvPicPr preferRelativeResize="0"/>
          <p:nvPr/>
        </p:nvPicPr>
        <p:blipFill>
          <a:blip r:embed="rId3">
            <a:alphaModFix/>
          </a:blip>
          <a:stretch>
            <a:fillRect/>
          </a:stretch>
        </p:blipFill>
        <p:spPr>
          <a:xfrm>
            <a:off x="152400" y="2006250"/>
            <a:ext cx="8839200" cy="290661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Routing Group</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 Group</a:t>
            </a:r>
            <a:endParaRPr/>
          </a:p>
        </p:txBody>
      </p:sp>
      <p:sp>
        <p:nvSpPr>
          <p:cNvPr id="488" name="Google Shape;488;p8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Web dengan banyak endpoint, kadang-kadang kita perlu melakukan Grouping beberapa routing</a:t>
            </a:r>
            <a:endParaRPr/>
          </a:p>
          <a:p>
            <a:pPr indent="-311150" lvl="0" marL="457200" rtl="0" algn="l">
              <a:spcBef>
                <a:spcPts val="0"/>
              </a:spcBef>
              <a:spcAft>
                <a:spcPts val="0"/>
              </a:spcAft>
              <a:buSzPts val="1300"/>
              <a:buChar char="●"/>
            </a:pPr>
            <a:r>
              <a:rPr lang="id"/>
              <a:t>Hal ini agar lebih rapi dan mudah dikembangkan ketika membuat banyak routing</a:t>
            </a:r>
            <a:endParaRPr/>
          </a:p>
          <a:p>
            <a:pPr indent="-311150" lvl="0" marL="457200" rtl="0" algn="l">
              <a:spcBef>
                <a:spcPts val="0"/>
              </a:spcBef>
              <a:spcAft>
                <a:spcPts val="0"/>
              </a:spcAft>
              <a:buSzPts val="1300"/>
              <a:buChar char="●"/>
            </a:pPr>
            <a:r>
              <a:rPr lang="id"/>
              <a:t>Kita bisa membuat grup menggunakan Group() di fiber.App</a:t>
            </a:r>
            <a:endParaRPr/>
          </a:p>
          <a:p>
            <a:pPr indent="-311150" lvl="0" marL="457200" rtl="0" algn="l">
              <a:spcBef>
                <a:spcPts val="0"/>
              </a:spcBef>
              <a:spcAft>
                <a:spcPts val="0"/>
              </a:spcAft>
              <a:buSzPts val="1300"/>
              <a:buChar char="●"/>
            </a:pPr>
            <a:r>
              <a:rPr lang="id"/>
              <a:t>Dan kita bisa menambahkan Routing ke Group() yang sudah kita buat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Routing Group</a:t>
            </a:r>
            <a:endParaRPr/>
          </a:p>
        </p:txBody>
      </p:sp>
      <p:pic>
        <p:nvPicPr>
          <p:cNvPr id="494" name="Google Shape;494;p82"/>
          <p:cNvPicPr preferRelativeResize="0"/>
          <p:nvPr/>
        </p:nvPicPr>
        <p:blipFill>
          <a:blip r:embed="rId3">
            <a:alphaModFix/>
          </a:blip>
          <a:stretch>
            <a:fillRect/>
          </a:stretch>
        </p:blipFill>
        <p:spPr>
          <a:xfrm>
            <a:off x="152400" y="2006250"/>
            <a:ext cx="4058825" cy="2749750"/>
          </a:xfrm>
          <a:prstGeom prst="rect">
            <a:avLst/>
          </a:prstGeom>
          <a:noFill/>
          <a:ln>
            <a:noFill/>
          </a:ln>
        </p:spPr>
      </p:pic>
      <p:pic>
        <p:nvPicPr>
          <p:cNvPr id="495" name="Google Shape;495;p82"/>
          <p:cNvPicPr preferRelativeResize="0"/>
          <p:nvPr/>
        </p:nvPicPr>
        <p:blipFill>
          <a:blip r:embed="rId4">
            <a:alphaModFix/>
          </a:blip>
          <a:stretch>
            <a:fillRect/>
          </a:stretch>
        </p:blipFill>
        <p:spPr>
          <a:xfrm>
            <a:off x="4309625" y="2006246"/>
            <a:ext cx="4670725" cy="17664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8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Static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Static</a:t>
            </a:r>
            <a:endParaRPr/>
          </a:p>
        </p:txBody>
      </p:sp>
      <p:sp>
        <p:nvSpPr>
          <p:cNvPr id="506" name="Google Shape;506;p8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static file seperti HTML, CSS, JavaScript, maka akan menyulitkan jika harus membuat routing untuk tiap file</a:t>
            </a:r>
            <a:endParaRPr/>
          </a:p>
          <a:p>
            <a:pPr indent="-311150" lvl="0" marL="457200" rtl="0" algn="l">
              <a:spcBef>
                <a:spcPts val="0"/>
              </a:spcBef>
              <a:spcAft>
                <a:spcPts val="0"/>
              </a:spcAft>
              <a:buSzPts val="1300"/>
              <a:buChar char="●"/>
            </a:pPr>
            <a:r>
              <a:rPr lang="id"/>
              <a:t>Untungnya Fiber memiliki fitur untuk menyediakan file static menggunakan method Static()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Static</a:t>
            </a:r>
            <a:endParaRPr/>
          </a:p>
        </p:txBody>
      </p:sp>
      <p:pic>
        <p:nvPicPr>
          <p:cNvPr id="512" name="Google Shape;512;p85"/>
          <p:cNvPicPr preferRelativeResize="0"/>
          <p:nvPr/>
        </p:nvPicPr>
        <p:blipFill>
          <a:blip r:embed="rId3">
            <a:alphaModFix/>
          </a:blip>
          <a:stretch>
            <a:fillRect/>
          </a:stretch>
        </p:blipFill>
        <p:spPr>
          <a:xfrm>
            <a:off x="152400" y="2006250"/>
            <a:ext cx="8839201" cy="244209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8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Pre Fork</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Standalone</a:t>
            </a:r>
            <a:endParaRPr/>
          </a:p>
        </p:txBody>
      </p:sp>
      <p:sp>
        <p:nvSpPr>
          <p:cNvPr id="523" name="Google Shape;523;p8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saat aplikasi Fiber berjalan, dia akan berjalan secara standalone dalam satu proses</a:t>
            </a:r>
            <a:endParaRPr/>
          </a:p>
          <a:p>
            <a:pPr indent="-311150" lvl="0" marL="457200" rtl="0" algn="l">
              <a:spcBef>
                <a:spcPts val="0"/>
              </a:spcBef>
              <a:spcAft>
                <a:spcPts val="0"/>
              </a:spcAft>
              <a:buSzPts val="1300"/>
              <a:buChar char="●"/>
            </a:pPr>
            <a:r>
              <a:rPr lang="id"/>
              <a:t>Kadang-kadang, ketika kita jalankan dalam sebuah server yang jumlah CPU nya banyak, mungkin ada baiknya kita menjalankan beberapa proses agar semua CPU terpakai dengan optimal</a:t>
            </a:r>
            <a:endParaRPr/>
          </a:p>
          <a:p>
            <a:pPr indent="-311150" lvl="0" marL="457200" rtl="0" algn="l">
              <a:spcBef>
                <a:spcPts val="0"/>
              </a:spcBef>
              <a:spcAft>
                <a:spcPts val="0"/>
              </a:spcAft>
              <a:buSzPts val="1300"/>
              <a:buChar char="●"/>
            </a:pPr>
            <a:r>
              <a:rPr lang="id"/>
              <a:t>Namun yang jadi masalah, jika kita jalankan beberapa aplikasi Fiber secara bersamaan, maka kita harus menggunakan port yang berbeda-beda</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 Fork</a:t>
            </a:r>
            <a:endParaRPr/>
          </a:p>
        </p:txBody>
      </p:sp>
      <p:sp>
        <p:nvSpPr>
          <p:cNvPr id="529" name="Google Shape;529;p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memiliki konfigurasi bernama PreFork, yang default nya adalah false, dan bisa kita ubah menjadi true</a:t>
            </a:r>
            <a:endParaRPr/>
          </a:p>
          <a:p>
            <a:pPr indent="-311150" lvl="0" marL="457200" rtl="0" algn="l">
              <a:spcBef>
                <a:spcPts val="0"/>
              </a:spcBef>
              <a:spcAft>
                <a:spcPts val="0"/>
              </a:spcAft>
              <a:buSzPts val="1300"/>
              <a:buChar char="●"/>
            </a:pPr>
            <a:r>
              <a:rPr lang="id"/>
              <a:t>PreFork adalah fitur menjalankan beberapa proses Fiber namun menggunakan port yang sama. Fitur ini memanfaatkan fitur di sistem operasi bernama SO_REUSEPORT : </a:t>
            </a:r>
            <a:r>
              <a:rPr lang="id" u="sng">
                <a:solidFill>
                  <a:schemeClr val="hlink"/>
                </a:solidFill>
                <a:hlinkClick r:id="rId3"/>
              </a:rPr>
              <a:t>https://lwn.net/Articles/542629/</a:t>
            </a:r>
            <a:endParaRPr/>
          </a:p>
          <a:p>
            <a:pPr indent="-311150" lvl="0" marL="457200" rtl="0" algn="l">
              <a:spcBef>
                <a:spcPts val="0"/>
              </a:spcBef>
              <a:spcAft>
                <a:spcPts val="0"/>
              </a:spcAft>
              <a:buSzPts val="1300"/>
              <a:buChar char="●"/>
            </a:pPr>
            <a:r>
              <a:rPr lang="id"/>
              <a:t>Teknik ini juga biasa digunakan di NGINX </a:t>
            </a:r>
            <a:r>
              <a:rPr lang="id" u="sng">
                <a:solidFill>
                  <a:schemeClr val="hlink"/>
                </a:solidFill>
                <a:hlinkClick r:id="rId4"/>
              </a:rPr>
              <a:t>https://www.nginx.com/blog/socket-sharding-nginx-release-1-9-1/</a:t>
            </a:r>
            <a:r>
              <a:rPr lang="id"/>
              <a:t>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PreFork</a:t>
            </a:r>
            <a:endParaRPr/>
          </a:p>
        </p:txBody>
      </p:sp>
      <p:pic>
        <p:nvPicPr>
          <p:cNvPr id="535" name="Google Shape;535;p89"/>
          <p:cNvPicPr preferRelativeResize="0"/>
          <p:nvPr/>
        </p:nvPicPr>
        <p:blipFill>
          <a:blip r:embed="rId3">
            <a:alphaModFix/>
          </a:blip>
          <a:stretch>
            <a:fillRect/>
          </a:stretch>
        </p:blipFill>
        <p:spPr>
          <a:xfrm>
            <a:off x="152400" y="2006250"/>
            <a:ext cx="7520600" cy="29848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Error Handling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Handling</a:t>
            </a:r>
            <a:endParaRPr/>
          </a:p>
        </p:txBody>
      </p:sp>
      <p:sp>
        <p:nvSpPr>
          <p:cNvPr id="546" name="Google Shape;546;p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Kita bisa perhatikan pada Fiber Handler, return value nya berupa error, yang artinya jika terjadi error, kita bisa return langsung data errornya</a:t>
            </a:r>
            <a:endParaRPr/>
          </a:p>
          <a:p>
            <a:pPr indent="-311150" lvl="0" marL="457200" rtl="0" algn="l">
              <a:spcBef>
                <a:spcPts val="0"/>
              </a:spcBef>
              <a:spcAft>
                <a:spcPts val="0"/>
              </a:spcAft>
              <a:buSzPts val="1300"/>
              <a:buChar char="●"/>
            </a:pPr>
            <a:r>
              <a:rPr lang="id"/>
              <a:t>Dan ketika terjadi error, secara otomatis akan ditangkap oleh ErrorHandler pada fiber.Config</a:t>
            </a:r>
            <a:endParaRPr/>
          </a:p>
          <a:p>
            <a:pPr indent="-311150" lvl="0" marL="457200" rtl="0" algn="l">
              <a:spcBef>
                <a:spcPts val="0"/>
              </a:spcBef>
              <a:spcAft>
                <a:spcPts val="0"/>
              </a:spcAft>
              <a:buSzPts val="1300"/>
              <a:buChar char="●"/>
            </a:pPr>
            <a:r>
              <a:rPr lang="id"/>
              <a:t>Kita bisa mengubah implementasi dari ErrorHandler nya jika kita mau</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Error Handler</a:t>
            </a:r>
            <a:endParaRPr/>
          </a:p>
        </p:txBody>
      </p:sp>
      <p:pic>
        <p:nvPicPr>
          <p:cNvPr id="552" name="Google Shape;552;p92"/>
          <p:cNvPicPr preferRelativeResize="0"/>
          <p:nvPr/>
        </p:nvPicPr>
        <p:blipFill>
          <a:blip r:embed="rId3">
            <a:alphaModFix/>
          </a:blip>
          <a:stretch>
            <a:fillRect/>
          </a:stretch>
        </p:blipFill>
        <p:spPr>
          <a:xfrm>
            <a:off x="152400" y="2006250"/>
            <a:ext cx="8839200" cy="1835948"/>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Error Handler</a:t>
            </a:r>
            <a:endParaRPr/>
          </a:p>
        </p:txBody>
      </p:sp>
      <p:pic>
        <p:nvPicPr>
          <p:cNvPr id="558" name="Google Shape;558;p93"/>
          <p:cNvPicPr preferRelativeResize="0"/>
          <p:nvPr/>
        </p:nvPicPr>
        <p:blipFill>
          <a:blip r:embed="rId3">
            <a:alphaModFix/>
          </a:blip>
          <a:stretch>
            <a:fillRect/>
          </a:stretch>
        </p:blipFill>
        <p:spPr>
          <a:xfrm>
            <a:off x="152400" y="2006250"/>
            <a:ext cx="8839199" cy="277461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Template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Template</a:t>
            </a:r>
            <a:endParaRPr/>
          </a:p>
        </p:txBody>
      </p:sp>
      <p:sp>
        <p:nvSpPr>
          <p:cNvPr id="569" name="Google Shape;569;p9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secara default tidak memiliki template engine seperti Web Framework kebanyakan</a:t>
            </a:r>
            <a:endParaRPr/>
          </a:p>
          <a:p>
            <a:pPr indent="-311150" lvl="0" marL="457200" rtl="0" algn="l">
              <a:spcBef>
                <a:spcPts val="0"/>
              </a:spcBef>
              <a:spcAft>
                <a:spcPts val="0"/>
              </a:spcAft>
              <a:buSzPts val="1300"/>
              <a:buChar char="●"/>
            </a:pPr>
            <a:r>
              <a:rPr lang="id"/>
              <a:t>Namun Fiber mendukung banyak integrasi dengan template engine yang sudah populer</a:t>
            </a:r>
            <a:endParaRPr/>
          </a:p>
          <a:p>
            <a:pPr indent="-311150" lvl="0" marL="457200" rtl="0" algn="l">
              <a:spcBef>
                <a:spcPts val="0"/>
              </a:spcBef>
              <a:spcAft>
                <a:spcPts val="0"/>
              </a:spcAft>
              <a:buSzPts val="1300"/>
              <a:buChar char="●"/>
            </a:pPr>
            <a:r>
              <a:rPr lang="id"/>
              <a:t>Kita bisa lihat semua template engine yang didukung oleh Fiber di halaman dokumentasinya :</a:t>
            </a:r>
            <a:endParaRPr/>
          </a:p>
          <a:p>
            <a:pPr indent="-311150" lvl="0" marL="457200" rtl="0" algn="l">
              <a:spcBef>
                <a:spcPts val="0"/>
              </a:spcBef>
              <a:spcAft>
                <a:spcPts val="0"/>
              </a:spcAft>
              <a:buSzPts val="1300"/>
              <a:buChar char="●"/>
            </a:pPr>
            <a:r>
              <a:rPr lang="id" u="sng">
                <a:solidFill>
                  <a:schemeClr val="hlink"/>
                </a:solidFill>
                <a:hlinkClick r:id="rId3"/>
              </a:rPr>
              <a:t>https://docs.gofiber.io/template/</a:t>
            </a:r>
            <a:r>
              <a:rPr lang="id"/>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Mustache</a:t>
            </a:r>
            <a:endParaRPr/>
          </a:p>
        </p:txBody>
      </p:sp>
      <p:sp>
        <p:nvSpPr>
          <p:cNvPr id="575" name="Google Shape;575;p9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menggunakan template engine, kita harus menginstall dulu dependency nya, lalu meregistrasikan View ke Fiber nya</a:t>
            </a:r>
            <a:endParaRPr/>
          </a:p>
          <a:p>
            <a:pPr indent="-311150" lvl="0" marL="457200" rtl="0" algn="l">
              <a:spcBef>
                <a:spcPts val="0"/>
              </a:spcBef>
              <a:spcAft>
                <a:spcPts val="0"/>
              </a:spcAft>
              <a:buSzPts val="1300"/>
              <a:buChar char="●"/>
            </a:pPr>
            <a:r>
              <a:rPr lang="id"/>
              <a:t>Misal kita akan coba menggunakan Mustache Template Engine</a:t>
            </a:r>
            <a:endParaRPr/>
          </a:p>
          <a:p>
            <a:pPr indent="-311150" lvl="0" marL="457200" rtl="0" algn="l">
              <a:spcBef>
                <a:spcPts val="0"/>
              </a:spcBef>
              <a:spcAft>
                <a:spcPts val="0"/>
              </a:spcAft>
              <a:buSzPts val="1300"/>
              <a:buChar char="●"/>
            </a:pPr>
            <a:r>
              <a:rPr lang="id"/>
              <a:t>Kita bisa menginstall dependency-nya terlebih dahulu</a:t>
            </a:r>
            <a:endParaRPr/>
          </a:p>
          <a:p>
            <a:pPr indent="-311150" lvl="0" marL="457200" rtl="0" algn="l">
              <a:spcBef>
                <a:spcPts val="0"/>
              </a:spcBef>
              <a:spcAft>
                <a:spcPts val="0"/>
              </a:spcAft>
              <a:buSzPts val="1300"/>
              <a:buChar char="●"/>
            </a:pPr>
            <a:r>
              <a:rPr lang="id"/>
              <a:t>go get </a:t>
            </a:r>
            <a:r>
              <a:rPr lang="id"/>
              <a:t>github.com/gofiber/template/mustache/v2</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Template</a:t>
            </a:r>
            <a:endParaRPr/>
          </a:p>
        </p:txBody>
      </p:sp>
      <p:pic>
        <p:nvPicPr>
          <p:cNvPr id="581" name="Google Shape;581;p97"/>
          <p:cNvPicPr preferRelativeResize="0"/>
          <p:nvPr/>
        </p:nvPicPr>
        <p:blipFill>
          <a:blip r:embed="rId3">
            <a:alphaModFix/>
          </a:blip>
          <a:stretch>
            <a:fillRect/>
          </a:stretch>
        </p:blipFill>
        <p:spPr>
          <a:xfrm>
            <a:off x="152400" y="2006250"/>
            <a:ext cx="7647138" cy="298485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View</a:t>
            </a:r>
            <a:endParaRPr/>
          </a:p>
        </p:txBody>
      </p:sp>
      <p:pic>
        <p:nvPicPr>
          <p:cNvPr id="587" name="Google Shape;587;p98"/>
          <p:cNvPicPr preferRelativeResize="0"/>
          <p:nvPr/>
        </p:nvPicPr>
        <p:blipFill>
          <a:blip r:embed="rId3">
            <a:alphaModFix/>
          </a:blip>
          <a:stretch>
            <a:fillRect/>
          </a:stretch>
        </p:blipFill>
        <p:spPr>
          <a:xfrm>
            <a:off x="152400" y="2006250"/>
            <a:ext cx="3568426" cy="2984849"/>
          </a:xfrm>
          <a:prstGeom prst="rect">
            <a:avLst/>
          </a:prstGeom>
          <a:noFill/>
          <a:ln>
            <a:noFill/>
          </a:ln>
        </p:spPr>
      </p:pic>
      <p:pic>
        <p:nvPicPr>
          <p:cNvPr id="588" name="Google Shape;588;p98"/>
          <p:cNvPicPr preferRelativeResize="0"/>
          <p:nvPr/>
        </p:nvPicPr>
        <p:blipFill>
          <a:blip r:embed="rId4">
            <a:alphaModFix/>
          </a:blip>
          <a:stretch>
            <a:fillRect/>
          </a:stretch>
        </p:blipFill>
        <p:spPr>
          <a:xfrm>
            <a:off x="3873226" y="2006250"/>
            <a:ext cx="5118374" cy="289704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9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Middleware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a:t>
            </a:r>
            <a:endParaRPr/>
          </a:p>
        </p:txBody>
      </p:sp>
      <p:sp>
        <p:nvSpPr>
          <p:cNvPr id="599" name="Google Shape;599;p1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juga mendukung Middleware</a:t>
            </a:r>
            <a:endParaRPr/>
          </a:p>
          <a:p>
            <a:pPr indent="-311150" lvl="0" marL="457200" rtl="0" algn="l">
              <a:spcBef>
                <a:spcPts val="0"/>
              </a:spcBef>
              <a:spcAft>
                <a:spcPts val="0"/>
              </a:spcAft>
              <a:buSzPts val="1300"/>
              <a:buChar char="●"/>
            </a:pPr>
            <a:r>
              <a:rPr lang="id"/>
              <a:t>Dengan Middleware, kita bisa membuat Handler yang bisa melakukan sebelum dan setelah request itu dikerjakan oleh Handler yang memproses request nya</a:t>
            </a:r>
            <a:endParaRPr/>
          </a:p>
          <a:p>
            <a:pPr indent="-311150" lvl="0" marL="457200" rtl="0" algn="l">
              <a:spcBef>
                <a:spcPts val="0"/>
              </a:spcBef>
              <a:spcAft>
                <a:spcPts val="0"/>
              </a:spcAft>
              <a:buSzPts val="1300"/>
              <a:buChar char="●"/>
            </a:pPr>
            <a:r>
              <a:rPr lang="id"/>
              <a:t>Fiber sendiri menyediakan banyak sekali Middleware-Middleware yang umum digunakan</a:t>
            </a:r>
            <a:endParaRPr/>
          </a:p>
          <a:p>
            <a:pPr indent="-311150" lvl="0" marL="457200" rtl="0" algn="l">
              <a:spcBef>
                <a:spcPts val="0"/>
              </a:spcBef>
              <a:spcAft>
                <a:spcPts val="0"/>
              </a:spcAft>
              <a:buSzPts val="1300"/>
              <a:buChar char="●"/>
            </a:pPr>
            <a:r>
              <a:rPr lang="id"/>
              <a:t>Di materi ini kita tidak akan membahas Middleware yang sudah disediakan, melainkan kita akan membahas cara membuat Middleware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Middleware</a:t>
            </a:r>
            <a:endParaRPr/>
          </a:p>
        </p:txBody>
      </p:sp>
      <p:sp>
        <p:nvSpPr>
          <p:cNvPr id="605" name="Google Shape;605;p10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Membuat Middleware itu sederhana, cukup membuat Handler seperti pada Routing</a:t>
            </a:r>
            <a:endParaRPr/>
          </a:p>
          <a:p>
            <a:pPr indent="-311150" lvl="0" marL="457200" rtl="0" algn="l">
              <a:spcBef>
                <a:spcPts val="0"/>
              </a:spcBef>
              <a:spcAft>
                <a:spcPts val="0"/>
              </a:spcAft>
              <a:buSzPts val="1300"/>
              <a:buChar char="●"/>
            </a:pPr>
            <a:r>
              <a:rPr lang="id"/>
              <a:t>Namun dalam Handlernya, jika kita ingin meneruskan Request ke Handler selanjutnya, kita perlu memanggil Next() pada Ctx</a:t>
            </a:r>
            <a:endParaRPr/>
          </a:p>
          <a:p>
            <a:pPr indent="-311150" lvl="0" marL="457200" rtl="0" algn="l">
              <a:spcBef>
                <a:spcPts val="0"/>
              </a:spcBef>
              <a:spcAft>
                <a:spcPts val="0"/>
              </a:spcAft>
              <a:buSzPts val="1300"/>
              <a:buChar char="●"/>
            </a:pPr>
            <a:r>
              <a:rPr lang="id"/>
              <a:t>Dan untuk menggunakan Middleware, kita bisa menggunakan Use() pada fiber.App</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Log Middleware</a:t>
            </a:r>
            <a:endParaRPr/>
          </a:p>
        </p:txBody>
      </p:sp>
      <p:pic>
        <p:nvPicPr>
          <p:cNvPr id="611" name="Google Shape;611;p102"/>
          <p:cNvPicPr preferRelativeResize="0"/>
          <p:nvPr/>
        </p:nvPicPr>
        <p:blipFill>
          <a:blip r:embed="rId3">
            <a:alphaModFix/>
          </a:blip>
          <a:stretch>
            <a:fillRect/>
          </a:stretch>
        </p:blipFill>
        <p:spPr>
          <a:xfrm>
            <a:off x="152400" y="2006250"/>
            <a:ext cx="7310867" cy="298485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Prefix</a:t>
            </a:r>
            <a:endParaRPr/>
          </a:p>
        </p:txBody>
      </p:sp>
      <p:sp>
        <p:nvSpPr>
          <p:cNvPr id="617" name="Google Shape;617;p10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Middleware juga bisa ditempatkan pada prefix tertentu, misal kita ingin menggunakan middleware pada route dengan prefix /api</a:t>
            </a:r>
            <a:endParaRPr/>
          </a:p>
          <a:p>
            <a:pPr indent="-311150" lvl="0" marL="457200" rtl="0" algn="l">
              <a:spcBef>
                <a:spcPts val="0"/>
              </a:spcBef>
              <a:spcAft>
                <a:spcPts val="0"/>
              </a:spcAft>
              <a:buSzPts val="1300"/>
              <a:buChar char="●"/>
            </a:pPr>
            <a:r>
              <a:rPr lang="id"/>
              <a:t>Maka saat menggunakan Use(), kisa bisa tambahkan /api di parameter pertama</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04"/>
          <p:cNvSpPr txBox="1"/>
          <p:nvPr>
            <p:ph type="title"/>
          </p:nvPr>
        </p:nvSpPr>
        <p:spPr>
          <a:xfrm>
            <a:off x="727650" y="13383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Prefix Middleware</a:t>
            </a:r>
            <a:endParaRPr/>
          </a:p>
        </p:txBody>
      </p:sp>
      <p:pic>
        <p:nvPicPr>
          <p:cNvPr id="623" name="Google Shape;623;p104"/>
          <p:cNvPicPr preferRelativeResize="0"/>
          <p:nvPr/>
        </p:nvPicPr>
        <p:blipFill>
          <a:blip r:embed="rId3">
            <a:alphaModFix/>
          </a:blip>
          <a:stretch>
            <a:fillRect/>
          </a:stretch>
        </p:blipFill>
        <p:spPr>
          <a:xfrm>
            <a:off x="152400" y="2025925"/>
            <a:ext cx="7248766" cy="29651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Middleware Lainnya</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 Lainnya</a:t>
            </a:r>
            <a:endParaRPr/>
          </a:p>
        </p:txBody>
      </p:sp>
      <p:sp>
        <p:nvSpPr>
          <p:cNvPr id="634" name="Google Shape;634;p10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sudah menyediakan banyak sekali Middleware yang bisa kita gunakan secara langsung, seperti RequestId, BasicAuth, FileSystem, ETag, dan masih banyak yang lainnya</a:t>
            </a:r>
            <a:endParaRPr/>
          </a:p>
          <a:p>
            <a:pPr indent="-311150" lvl="0" marL="457200" rtl="0" algn="l">
              <a:spcBef>
                <a:spcPts val="0"/>
              </a:spcBef>
              <a:spcAft>
                <a:spcPts val="0"/>
              </a:spcAft>
              <a:buSzPts val="1300"/>
              <a:buChar char="●"/>
            </a:pPr>
            <a:r>
              <a:rPr lang="id"/>
              <a:t>Di kelas ini, kita tidak akan membahas Middleware tersebut, karena pasti akan selalu bertambah dan berubah, oleh karena itu sangat disarankan untuk membaca dokumentasi penggunakan Middleware nya, dan gunakan ketika memang kita butuhkan</a:t>
            </a:r>
            <a:endParaRPr/>
          </a:p>
          <a:p>
            <a:pPr indent="-311150" lvl="0" marL="457200" rtl="0" algn="l">
              <a:spcBef>
                <a:spcPts val="0"/>
              </a:spcBef>
              <a:spcAft>
                <a:spcPts val="0"/>
              </a:spcAft>
              <a:buSzPts val="1300"/>
              <a:buChar char="●"/>
            </a:pPr>
            <a:r>
              <a:rPr lang="id" u="sng">
                <a:solidFill>
                  <a:schemeClr val="hlink"/>
                </a:solidFill>
                <a:hlinkClick r:id="rId3"/>
              </a:rPr>
              <a:t>https://docs.gofiber.io/category/-middleware</a:t>
            </a:r>
            <a:r>
              <a:rPr lang="id"/>
              <a:t>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Client</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Client</a:t>
            </a:r>
            <a:endParaRPr/>
          </a:p>
        </p:txBody>
      </p:sp>
      <p:sp>
        <p:nvSpPr>
          <p:cNvPr id="645" name="Google Shape;645;p10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kadang kita juga sering menggunakan HTTP Client untuk mengambil data atau mengirim data ke API / RESTful lainnya</a:t>
            </a:r>
            <a:endParaRPr/>
          </a:p>
          <a:p>
            <a:pPr indent="-311150" lvl="0" marL="457200" rtl="0" algn="l">
              <a:spcBef>
                <a:spcPts val="0"/>
              </a:spcBef>
              <a:spcAft>
                <a:spcPts val="0"/>
              </a:spcAft>
              <a:buSzPts val="1300"/>
              <a:buChar char="●"/>
            </a:pPr>
            <a:r>
              <a:rPr lang="id"/>
              <a:t>Fiber menyediakan fitur untuk HTTP Client, sehingga kita bisa menggunakan Fiber sebagai HTTP Client</a:t>
            </a:r>
            <a:endParaRPr/>
          </a:p>
          <a:p>
            <a:pPr indent="-311150" lvl="0" marL="457200" rtl="0" algn="l">
              <a:spcBef>
                <a:spcPts val="0"/>
              </a:spcBef>
              <a:spcAft>
                <a:spcPts val="0"/>
              </a:spcAft>
              <a:buSzPts val="1300"/>
              <a:buChar char="●"/>
            </a:pPr>
            <a:r>
              <a:rPr lang="id"/>
              <a:t>Kita bisa menggunakan fiber.Client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Client</a:t>
            </a:r>
            <a:endParaRPr/>
          </a:p>
        </p:txBody>
      </p:sp>
      <p:sp>
        <p:nvSpPr>
          <p:cNvPr id="651" name="Google Shape;651;p10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Fiber menyediakan Client Pool, agar ketika kita menggunakan Client dan selesai menggunakannya, kita bisa menggunakan ulang Client</a:t>
            </a:r>
            <a:endParaRPr/>
          </a:p>
          <a:p>
            <a:pPr indent="-311150" lvl="0" marL="457200" rtl="0" algn="l">
              <a:spcBef>
                <a:spcPts val="0"/>
              </a:spcBef>
              <a:spcAft>
                <a:spcPts val="0"/>
              </a:spcAft>
              <a:buSzPts val="1300"/>
              <a:buChar char="●"/>
            </a:pPr>
            <a:r>
              <a:rPr lang="id"/>
              <a:t>Pool nya di manage oleh Fiber, jadi kita cukup ambil ketika membutuhkan menggunakan </a:t>
            </a:r>
            <a:r>
              <a:rPr lang="id"/>
              <a:t>fiber.AcquireClient()</a:t>
            </a:r>
            <a:endParaRPr/>
          </a:p>
          <a:p>
            <a:pPr indent="-311150" lvl="0" marL="457200" rtl="0" algn="l">
              <a:spcBef>
                <a:spcPts val="0"/>
              </a:spcBef>
              <a:spcAft>
                <a:spcPts val="0"/>
              </a:spcAft>
              <a:buSzPts val="1300"/>
              <a:buChar char="●"/>
            </a:pPr>
            <a:r>
              <a:rPr lang="id"/>
              <a:t>Dan ketika selesai, kembalikan ke Pool menggunakan fiber.ReleaseClient(client)</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Client</a:t>
            </a:r>
            <a:endParaRPr/>
          </a:p>
        </p:txBody>
      </p:sp>
      <p:pic>
        <p:nvPicPr>
          <p:cNvPr id="657" name="Google Shape;657;p110"/>
          <p:cNvPicPr preferRelativeResize="0"/>
          <p:nvPr/>
        </p:nvPicPr>
        <p:blipFill>
          <a:blip r:embed="rId3">
            <a:alphaModFix/>
          </a:blip>
          <a:stretch>
            <a:fillRect/>
          </a:stretch>
        </p:blipFill>
        <p:spPr>
          <a:xfrm>
            <a:off x="152400" y="2006250"/>
            <a:ext cx="8839199" cy="246654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Method</a:t>
            </a:r>
            <a:endParaRPr/>
          </a:p>
        </p:txBody>
      </p:sp>
      <p:sp>
        <p:nvSpPr>
          <p:cNvPr id="663" name="Google Shape;663;p11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menggunakan HTTP Client, kita bisa menggunakan method yang sesuai dengan HTTP Method yang mau kita gunakan</a:t>
            </a:r>
            <a:endParaRPr/>
          </a:p>
          <a:p>
            <a:pPr indent="-311150" lvl="0" marL="457200" rtl="0" algn="l">
              <a:spcBef>
                <a:spcPts val="0"/>
              </a:spcBef>
              <a:spcAft>
                <a:spcPts val="0"/>
              </a:spcAft>
              <a:buSzPts val="1300"/>
              <a:buChar char="●"/>
            </a:pPr>
            <a:r>
              <a:rPr lang="id"/>
              <a:t>Misal Get, Post, Delete, Put, dan lain-lain</a:t>
            </a:r>
            <a:endParaRPr/>
          </a:p>
          <a:p>
            <a:pPr indent="-311150" lvl="0" marL="457200" rtl="0" algn="l">
              <a:spcBef>
                <a:spcPts val="0"/>
              </a:spcBef>
              <a:spcAft>
                <a:spcPts val="0"/>
              </a:spcAft>
              <a:buSzPts val="1300"/>
              <a:buChar char="●"/>
            </a:pPr>
            <a:r>
              <a:rPr lang="id"/>
              <a:t>Cara penggunaannya sangat mudah, hampir mirip seperti Ctx di Fiber</a:t>
            </a:r>
            <a:endParaRPr/>
          </a:p>
          <a:p>
            <a:pPr indent="-311150" lvl="0" marL="457200" rtl="0" algn="l">
              <a:spcBef>
                <a:spcPts val="0"/>
              </a:spcBef>
              <a:spcAft>
                <a:spcPts val="0"/>
              </a:spcAft>
              <a:buSzPts val="1300"/>
              <a:buChar char="●"/>
            </a:pPr>
            <a:r>
              <a:rPr lang="id" u="sng">
                <a:solidFill>
                  <a:schemeClr val="hlink"/>
                </a:solidFill>
                <a:hlinkClick r:id="rId3"/>
              </a:rPr>
              <a:t>https://docs.gofiber.io/api/client</a:t>
            </a:r>
            <a:r>
              <a:rPr lang="id"/>
              <a:t>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HTTP Client</a:t>
            </a:r>
            <a:endParaRPr/>
          </a:p>
        </p:txBody>
      </p:sp>
      <p:pic>
        <p:nvPicPr>
          <p:cNvPr id="669" name="Google Shape;669;p112"/>
          <p:cNvPicPr preferRelativeResize="0"/>
          <p:nvPr/>
        </p:nvPicPr>
        <p:blipFill>
          <a:blip r:embed="rId3">
            <a:alphaModFix/>
          </a:blip>
          <a:stretch>
            <a:fillRect/>
          </a:stretch>
        </p:blipFill>
        <p:spPr>
          <a:xfrm>
            <a:off x="152400" y="2006250"/>
            <a:ext cx="8839199" cy="2625969"/>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Penutup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